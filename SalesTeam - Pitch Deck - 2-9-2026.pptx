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164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az Gruener" userId="1c67ef5f16a36d74" providerId="LiveId" clId="{4A8FA069-582A-46EA-B3F2-3B6AF512A42B}"/>
    <pc:docChg chg="undo custSel modSld">
      <pc:chgData name="Boaz Gruener" userId="1c67ef5f16a36d74" providerId="LiveId" clId="{4A8FA069-582A-46EA-B3F2-3B6AF512A42B}" dt="2026-09-03T07:41:47.270" v="211" actId="790"/>
      <pc:docMkLst>
        <pc:docMk/>
      </pc:docMkLst>
      <pc:sldChg chg="modSp mod">
        <pc:chgData name="Boaz Gruener" userId="1c67ef5f16a36d74" providerId="LiveId" clId="{4A8FA069-582A-46EA-B3F2-3B6AF512A42B}" dt="2026-09-03T07:31:54.567" v="157" actId="113"/>
        <pc:sldMkLst>
          <pc:docMk/>
          <pc:sldMk cId="0" sldId="256"/>
        </pc:sldMkLst>
        <pc:spChg chg="mod">
          <ac:chgData name="Boaz Gruener" userId="1c67ef5f16a36d74" providerId="LiveId" clId="{4A8FA069-582A-46EA-B3F2-3B6AF512A42B}" dt="2026-09-02T09:28:40.916" v="123" actId="790"/>
          <ac:spMkLst>
            <pc:docMk/>
            <pc:sldMk cId="0" sldId="256"/>
            <ac:spMk id="2" creationId="{00000000-0000-0000-0000-000000000000}"/>
          </ac:spMkLst>
        </pc:spChg>
        <pc:spChg chg="mod">
          <ac:chgData name="Boaz Gruener" userId="1c67ef5f16a36d74" providerId="LiveId" clId="{4A8FA069-582A-46EA-B3F2-3B6AF512A42B}" dt="2026-09-02T09:28:40.916" v="123" actId="790"/>
          <ac:spMkLst>
            <pc:docMk/>
            <pc:sldMk cId="0" sldId="256"/>
            <ac:spMk id="3" creationId="{00000000-0000-0000-0000-000000000000}"/>
          </ac:spMkLst>
        </pc:spChg>
        <pc:spChg chg="mod">
          <ac:chgData name="Boaz Gruener" userId="1c67ef5f16a36d74" providerId="LiveId" clId="{4A8FA069-582A-46EA-B3F2-3B6AF512A42B}" dt="2026-09-02T09:28:40.916" v="123" actId="790"/>
          <ac:spMkLst>
            <pc:docMk/>
            <pc:sldMk cId="0" sldId="256"/>
            <ac:spMk id="4" creationId="{00000000-0000-0000-0000-000000000000}"/>
          </ac:spMkLst>
        </pc:spChg>
        <pc:spChg chg="mod">
          <ac:chgData name="Boaz Gruener" userId="1c67ef5f16a36d74" providerId="LiveId" clId="{4A8FA069-582A-46EA-B3F2-3B6AF512A42B}" dt="2026-09-02T09:28:40.916" v="123" actId="790"/>
          <ac:spMkLst>
            <pc:docMk/>
            <pc:sldMk cId="0" sldId="256"/>
            <ac:spMk id="5" creationId="{00000000-0000-0000-0000-000000000000}"/>
          </ac:spMkLst>
        </pc:spChg>
        <pc:spChg chg="mod">
          <ac:chgData name="Boaz Gruener" userId="1c67ef5f16a36d74" providerId="LiveId" clId="{4A8FA069-582A-46EA-B3F2-3B6AF512A42B}" dt="2026-09-03T07:31:54.567" v="157" actId="113"/>
          <ac:spMkLst>
            <pc:docMk/>
            <pc:sldMk cId="0" sldId="256"/>
            <ac:spMk id="6" creationId="{00000000-0000-0000-0000-000000000000}"/>
          </ac:spMkLst>
        </pc:spChg>
      </pc:sldChg>
      <pc:sldChg chg="addSp delSp modSp mod">
        <pc:chgData name="Boaz Gruener" userId="1c67ef5f16a36d74" providerId="LiveId" clId="{4A8FA069-582A-46EA-B3F2-3B6AF512A42B}" dt="2026-09-03T07:30:28.450" v="140" actId="255"/>
        <pc:sldMkLst>
          <pc:docMk/>
          <pc:sldMk cId="0" sldId="257"/>
        </pc:sldMkLst>
        <pc:spChg chg="mod">
          <ac:chgData name="Boaz Gruener" userId="1c67ef5f16a36d74" providerId="LiveId" clId="{4A8FA069-582A-46EA-B3F2-3B6AF512A42B}" dt="2026-09-03T07:30:28.450" v="140" actId="255"/>
          <ac:spMkLst>
            <pc:docMk/>
            <pc:sldMk cId="0" sldId="257"/>
            <ac:spMk id="2" creationId="{00000000-0000-0000-0000-000000000000}"/>
          </ac:spMkLst>
        </pc:spChg>
        <pc:picChg chg="del mod">
          <ac:chgData name="Boaz Gruener" userId="1c67ef5f16a36d74" providerId="LiveId" clId="{4A8FA069-582A-46EA-B3F2-3B6AF512A42B}" dt="2026-09-02T09:30:52.904" v="132" actId="478"/>
          <ac:picMkLst>
            <pc:docMk/>
            <pc:sldMk cId="0" sldId="257"/>
            <ac:picMk id="20" creationId="{00000000-0000-0000-0000-000000000000}"/>
          </ac:picMkLst>
        </pc:picChg>
        <pc:picChg chg="add del mod">
          <ac:chgData name="Boaz Gruener" userId="1c67ef5f16a36d74" providerId="LiveId" clId="{4A8FA069-582A-46EA-B3F2-3B6AF512A42B}" dt="2026-09-02T09:32:24.736" v="133" actId="478"/>
          <ac:picMkLst>
            <pc:docMk/>
            <pc:sldMk cId="0" sldId="257"/>
            <ac:picMk id="22" creationId="{4EB42CC2-DEF4-5BC3-8A8E-188C2A309DB5}"/>
          </ac:picMkLst>
        </pc:picChg>
        <pc:picChg chg="add mod">
          <ac:chgData name="Boaz Gruener" userId="1c67ef5f16a36d74" providerId="LiveId" clId="{4A8FA069-582A-46EA-B3F2-3B6AF512A42B}" dt="2026-09-02T09:34:47.972" v="139" actId="14100"/>
          <ac:picMkLst>
            <pc:docMk/>
            <pc:sldMk cId="0" sldId="257"/>
            <ac:picMk id="24" creationId="{74FB495C-CBE8-1E0E-8C64-B0492024DAC2}"/>
          </ac:picMkLst>
        </pc:picChg>
      </pc:sldChg>
      <pc:sldChg chg="modSp mod">
        <pc:chgData name="Boaz Gruener" userId="1c67ef5f16a36d74" providerId="LiveId" clId="{4A8FA069-582A-46EA-B3F2-3B6AF512A42B}" dt="2026-09-03T07:30:34.886" v="143" actId="108"/>
        <pc:sldMkLst>
          <pc:docMk/>
          <pc:sldMk cId="0" sldId="258"/>
        </pc:sldMkLst>
        <pc:spChg chg="mod">
          <ac:chgData name="Boaz Gruener" userId="1c67ef5f16a36d74" providerId="LiveId" clId="{4A8FA069-582A-46EA-B3F2-3B6AF512A42B}" dt="2026-09-03T07:30:34.886" v="143" actId="108"/>
          <ac:spMkLst>
            <pc:docMk/>
            <pc:sldMk cId="0" sldId="258"/>
            <ac:spMk id="2" creationId="{00000000-0000-0000-0000-000000000000}"/>
          </ac:spMkLst>
        </pc:spChg>
      </pc:sldChg>
      <pc:sldChg chg="modSp mod">
        <pc:chgData name="Boaz Gruener" userId="1c67ef5f16a36d74" providerId="LiveId" clId="{4A8FA069-582A-46EA-B3F2-3B6AF512A42B}" dt="2026-09-03T07:30:43.942" v="144" actId="108"/>
        <pc:sldMkLst>
          <pc:docMk/>
          <pc:sldMk cId="0" sldId="259"/>
        </pc:sldMkLst>
        <pc:spChg chg="mod">
          <ac:chgData name="Boaz Gruener" userId="1c67ef5f16a36d74" providerId="LiveId" clId="{4A8FA069-582A-46EA-B3F2-3B6AF512A42B}" dt="2026-09-03T07:30:43.942" v="144" actId="108"/>
          <ac:spMkLst>
            <pc:docMk/>
            <pc:sldMk cId="0" sldId="259"/>
            <ac:spMk id="2" creationId="{00000000-0000-0000-0000-000000000000}"/>
          </ac:spMkLst>
        </pc:spChg>
      </pc:sldChg>
      <pc:sldChg chg="modSp mod">
        <pc:chgData name="Boaz Gruener" userId="1c67ef5f16a36d74" providerId="LiveId" clId="{4A8FA069-582A-46EA-B3F2-3B6AF512A42B}" dt="2026-09-03T07:30:56.693" v="149" actId="108"/>
        <pc:sldMkLst>
          <pc:docMk/>
          <pc:sldMk cId="0" sldId="260"/>
        </pc:sldMkLst>
        <pc:spChg chg="mod">
          <ac:chgData name="Boaz Gruener" userId="1c67ef5f16a36d74" providerId="LiveId" clId="{4A8FA069-582A-46EA-B3F2-3B6AF512A42B}" dt="2026-09-03T07:30:56.693" v="149" actId="108"/>
          <ac:spMkLst>
            <pc:docMk/>
            <pc:sldMk cId="0" sldId="260"/>
            <ac:spMk id="2" creationId="{00000000-0000-0000-0000-000000000000}"/>
          </ac:spMkLst>
        </pc:spChg>
      </pc:sldChg>
      <pc:sldChg chg="modSp mod">
        <pc:chgData name="Boaz Gruener" userId="1c67ef5f16a36d74" providerId="LiveId" clId="{4A8FA069-582A-46EA-B3F2-3B6AF512A42B}" dt="2026-09-03T07:31:00.777" v="150" actId="108"/>
        <pc:sldMkLst>
          <pc:docMk/>
          <pc:sldMk cId="0" sldId="261"/>
        </pc:sldMkLst>
        <pc:spChg chg="mod">
          <ac:chgData name="Boaz Gruener" userId="1c67ef5f16a36d74" providerId="LiveId" clId="{4A8FA069-582A-46EA-B3F2-3B6AF512A42B}" dt="2026-09-03T07:31:00.777" v="150" actId="108"/>
          <ac:spMkLst>
            <pc:docMk/>
            <pc:sldMk cId="0" sldId="261"/>
            <ac:spMk id="2" creationId="{00000000-0000-0000-0000-000000000000}"/>
          </ac:spMkLst>
        </pc:spChg>
      </pc:sldChg>
      <pc:sldChg chg="modSp mod">
        <pc:chgData name="Boaz Gruener" userId="1c67ef5f16a36d74" providerId="LiveId" clId="{4A8FA069-582A-46EA-B3F2-3B6AF512A42B}" dt="2026-09-03T07:31:05.289" v="151" actId="108"/>
        <pc:sldMkLst>
          <pc:docMk/>
          <pc:sldMk cId="0" sldId="263"/>
        </pc:sldMkLst>
        <pc:spChg chg="mod">
          <ac:chgData name="Boaz Gruener" userId="1c67ef5f16a36d74" providerId="LiveId" clId="{4A8FA069-582A-46EA-B3F2-3B6AF512A42B}" dt="2026-09-03T07:31:05.289" v="151" actId="108"/>
          <ac:spMkLst>
            <pc:docMk/>
            <pc:sldMk cId="0" sldId="263"/>
            <ac:spMk id="2" creationId="{00000000-0000-0000-0000-000000000000}"/>
          </ac:spMkLst>
        </pc:spChg>
        <pc:spChg chg="mod">
          <ac:chgData name="Boaz Gruener" userId="1c67ef5f16a36d74" providerId="LiveId" clId="{4A8FA069-582A-46EA-B3F2-3B6AF512A42B}" dt="2026-09-02T07:53:16.213" v="112" actId="20577"/>
          <ac:spMkLst>
            <pc:docMk/>
            <pc:sldMk cId="0" sldId="263"/>
            <ac:spMk id="18" creationId="{00000000-0000-0000-0000-000000000000}"/>
          </ac:spMkLst>
        </pc:spChg>
      </pc:sldChg>
      <pc:sldChg chg="modSp mod">
        <pc:chgData name="Boaz Gruener" userId="1c67ef5f16a36d74" providerId="LiveId" clId="{4A8FA069-582A-46EA-B3F2-3B6AF512A42B}" dt="2026-09-03T07:31:11.856" v="152" actId="108"/>
        <pc:sldMkLst>
          <pc:docMk/>
          <pc:sldMk cId="0" sldId="264"/>
        </pc:sldMkLst>
        <pc:spChg chg="mod">
          <ac:chgData name="Boaz Gruener" userId="1c67ef5f16a36d74" providerId="LiveId" clId="{4A8FA069-582A-46EA-B3F2-3B6AF512A42B}" dt="2026-09-03T07:31:11.856" v="152" actId="108"/>
          <ac:spMkLst>
            <pc:docMk/>
            <pc:sldMk cId="0" sldId="264"/>
            <ac:spMk id="2" creationId="{00000000-0000-0000-0000-000000000000}"/>
          </ac:spMkLst>
        </pc:spChg>
      </pc:sldChg>
      <pc:sldChg chg="modSp mod">
        <pc:chgData name="Boaz Gruener" userId="1c67ef5f16a36d74" providerId="LiveId" clId="{4A8FA069-582A-46EA-B3F2-3B6AF512A42B}" dt="2026-09-03T07:31:16.591" v="153" actId="108"/>
        <pc:sldMkLst>
          <pc:docMk/>
          <pc:sldMk cId="0" sldId="265"/>
        </pc:sldMkLst>
        <pc:spChg chg="mod">
          <ac:chgData name="Boaz Gruener" userId="1c67ef5f16a36d74" providerId="LiveId" clId="{4A8FA069-582A-46EA-B3F2-3B6AF512A42B}" dt="2026-09-03T07:31:16.591" v="153" actId="108"/>
          <ac:spMkLst>
            <pc:docMk/>
            <pc:sldMk cId="0" sldId="265"/>
            <ac:spMk id="2" creationId="{00000000-0000-0000-0000-000000000000}"/>
          </ac:spMkLst>
        </pc:spChg>
        <pc:spChg chg="mod">
          <ac:chgData name="Boaz Gruener" userId="1c67ef5f16a36d74" providerId="LiveId" clId="{4A8FA069-582A-46EA-B3F2-3B6AF512A42B}" dt="2026-09-02T07:49:15.098" v="26" actId="20577"/>
          <ac:spMkLst>
            <pc:docMk/>
            <pc:sldMk cId="0" sldId="265"/>
            <ac:spMk id="7" creationId="{00000000-0000-0000-0000-000000000000}"/>
          </ac:spMkLst>
        </pc:spChg>
      </pc:sldChg>
      <pc:sldChg chg="modSp mod">
        <pc:chgData name="Boaz Gruener" userId="1c67ef5f16a36d74" providerId="LiveId" clId="{4A8FA069-582A-46EA-B3F2-3B6AF512A42B}" dt="2026-09-03T07:41:47.270" v="211" actId="790"/>
        <pc:sldMkLst>
          <pc:docMk/>
          <pc:sldMk cId="0" sldId="266"/>
        </pc:sldMkLst>
        <pc:spChg chg="mod">
          <ac:chgData name="Boaz Gruener" userId="1c67ef5f16a36d74" providerId="LiveId" clId="{4A8FA069-582A-46EA-B3F2-3B6AF512A42B}" dt="2026-09-02T08:27:27.829" v="122" actId="403"/>
          <ac:spMkLst>
            <pc:docMk/>
            <pc:sldMk cId="0" sldId="266"/>
            <ac:spMk id="2" creationId="{00000000-0000-0000-0000-000000000000}"/>
          </ac:spMkLst>
        </pc:spChg>
        <pc:spChg chg="mod">
          <ac:chgData name="Boaz Gruener" userId="1c67ef5f16a36d74" providerId="LiveId" clId="{4A8FA069-582A-46EA-B3F2-3B6AF512A42B}" dt="2026-09-03T07:34:19.353" v="170" actId="14100"/>
          <ac:spMkLst>
            <pc:docMk/>
            <pc:sldMk cId="0" sldId="266"/>
            <ac:spMk id="10" creationId="{00000000-0000-0000-0000-000000000000}"/>
          </ac:spMkLst>
        </pc:spChg>
        <pc:spChg chg="mod">
          <ac:chgData name="Boaz Gruener" userId="1c67ef5f16a36d74" providerId="LiveId" clId="{4A8FA069-582A-46EA-B3F2-3B6AF512A42B}" dt="2026-09-03T07:34:30.599" v="171" actId="20577"/>
          <ac:spMkLst>
            <pc:docMk/>
            <pc:sldMk cId="0" sldId="266"/>
            <ac:spMk id="14" creationId="{00000000-0000-0000-0000-000000000000}"/>
          </ac:spMkLst>
        </pc:spChg>
        <pc:spChg chg="mod">
          <ac:chgData name="Boaz Gruener" userId="1c67ef5f16a36d74" providerId="LiveId" clId="{4A8FA069-582A-46EA-B3F2-3B6AF512A42B}" dt="2026-09-03T07:37:16.232" v="183" actId="20577"/>
          <ac:spMkLst>
            <pc:docMk/>
            <pc:sldMk cId="0" sldId="266"/>
            <ac:spMk id="16" creationId="{00000000-0000-0000-0000-000000000000}"/>
          </ac:spMkLst>
        </pc:spChg>
        <pc:spChg chg="mod">
          <ac:chgData name="Boaz Gruener" userId="1c67ef5f16a36d74" providerId="LiveId" clId="{4A8FA069-582A-46EA-B3F2-3B6AF512A42B}" dt="2026-09-03T07:37:14.899" v="181" actId="20577"/>
          <ac:spMkLst>
            <pc:docMk/>
            <pc:sldMk cId="0" sldId="266"/>
            <ac:spMk id="22" creationId="{00000000-0000-0000-0000-000000000000}"/>
          </ac:spMkLst>
        </pc:spChg>
        <pc:spChg chg="mod">
          <ac:chgData name="Boaz Gruener" userId="1c67ef5f16a36d74" providerId="LiveId" clId="{4A8FA069-582A-46EA-B3F2-3B6AF512A42B}" dt="2026-09-03T07:41:47.270" v="211" actId="790"/>
          <ac:spMkLst>
            <pc:docMk/>
            <pc:sldMk cId="0" sldId="266"/>
            <ac:spMk id="31" creationId="{00000000-0000-0000-0000-000000000000}"/>
          </ac:spMkLst>
        </pc:spChg>
      </pc:sldChg>
      <pc:sldChg chg="modSp mod">
        <pc:chgData name="Boaz Gruener" userId="1c67ef5f16a36d74" providerId="LiveId" clId="{4A8FA069-582A-46EA-B3F2-3B6AF512A42B}" dt="2026-09-03T07:31:23.696" v="154" actId="108"/>
        <pc:sldMkLst>
          <pc:docMk/>
          <pc:sldMk cId="0" sldId="267"/>
        </pc:sldMkLst>
        <pc:spChg chg="mod">
          <ac:chgData name="Boaz Gruener" userId="1c67ef5f16a36d74" providerId="LiveId" clId="{4A8FA069-582A-46EA-B3F2-3B6AF512A42B}" dt="2026-09-03T07:31:23.696" v="154" actId="108"/>
          <ac:spMkLst>
            <pc:docMk/>
            <pc:sldMk cId="0" sldId="267"/>
            <ac:spMk id="2" creationId="{00000000-0000-0000-0000-000000000000}"/>
          </ac:spMkLst>
        </pc:spChg>
      </pc:sldChg>
      <pc:sldChg chg="modSp mod">
        <pc:chgData name="Boaz Gruener" userId="1c67ef5f16a36d74" providerId="LiveId" clId="{4A8FA069-582A-46EA-B3F2-3B6AF512A42B}" dt="2026-09-03T07:31:36.961" v="155" actId="403"/>
        <pc:sldMkLst>
          <pc:docMk/>
          <pc:sldMk cId="0" sldId="268"/>
        </pc:sldMkLst>
        <pc:spChg chg="mod">
          <ac:chgData name="Boaz Gruener" userId="1c67ef5f16a36d74" providerId="LiveId" clId="{4A8FA069-582A-46EA-B3F2-3B6AF512A42B}" dt="2026-09-02T08:08:29.527" v="120" actId="20577"/>
          <ac:spMkLst>
            <pc:docMk/>
            <pc:sldMk cId="0" sldId="268"/>
            <ac:spMk id="3" creationId="{00000000-0000-0000-0000-000000000000}"/>
          </ac:spMkLst>
        </pc:spChg>
        <pc:spChg chg="mod">
          <ac:chgData name="Boaz Gruener" userId="1c67ef5f16a36d74" providerId="LiveId" clId="{4A8FA069-582A-46EA-B3F2-3B6AF512A42B}" dt="2026-09-03T07:31:36.961" v="155" actId="403"/>
          <ac:spMkLst>
            <pc:docMk/>
            <pc:sldMk cId="0" sldId="268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6000" b="1" i="0" noProof="0" dirty="0" err="1">
                <a:solidFill>
                  <a:srgbClr val="0A66C2"/>
                </a:solidFill>
                <a:latin typeface="Calibri"/>
              </a:rPr>
              <a:t>SalesTeam</a:t>
            </a:r>
            <a:endParaRPr lang="en-US" sz="6000" b="1" i="0" noProof="0" dirty="0">
              <a:solidFill>
                <a:srgbClr val="0A66C2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" y="306324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200" b="0" i="1" noProof="0" dirty="0">
                <a:solidFill>
                  <a:srgbClr val="222427"/>
                </a:solidFill>
                <a:latin typeface="Calibri"/>
              </a:rPr>
              <a:t>Your AI sales team, right inside LinkedIn.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434840"/>
            <a:ext cx="103380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0" noProof="0" dirty="0">
                <a:solidFill>
                  <a:srgbClr val="5B6066"/>
                </a:solidFill>
                <a:latin typeface="Calibri"/>
              </a:rPr>
              <a:t>A sophisticated Leads Generator, backed by a growing team of AI agents — a Sales Assistant, a Sales Mentor, and a Customer Voice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080760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i="0" noProof="0" dirty="0">
                <a:solidFill>
                  <a:srgbClr val="5B6066"/>
                </a:solidFill>
                <a:latin typeface="Calibri"/>
              </a:rPr>
              <a:t>September 2nd 2026  ·  Presented by Boaz Gruener  ·  AI Product Management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b="1" i="0" noProof="0" dirty="0">
                <a:solidFill>
                  <a:srgbClr val="D9731E"/>
                </a:solidFill>
                <a:latin typeface="Calibri"/>
              </a:rPr>
              <a:t>WHO IT'S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9235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900" b="1" i="0" noProof="0" dirty="0">
                <a:solidFill>
                  <a:srgbClr val="0A66C2"/>
                </a:solidFill>
                <a:latin typeface="Calibri"/>
              </a:rPr>
              <a:t>Meet Elena, B2B Software &amp; Services Sales Manager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38100"/>
          </a:xfrm>
          <a:prstGeom prst="rect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000" b="0" i="0" noProof="0" dirty="0">
                <a:solidFill>
                  <a:srgbClr val="5B6066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000" b="0" i="0" noProof="0" dirty="0" err="1">
                <a:solidFill>
                  <a:srgbClr val="5B6066"/>
                </a:solidFill>
                <a:latin typeface="Calibri"/>
              </a:rPr>
              <a:t>SalesTeam</a:t>
            </a:r>
            <a:endParaRPr lang="en-US" sz="1000" b="0" i="0" noProof="0" dirty="0">
              <a:solidFill>
                <a:srgbClr val="5B6066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9235440" cy="556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1350" b="0" i="1" noProof="0" dirty="0">
                <a:solidFill>
                  <a:srgbClr val="5B6066"/>
                </a:solidFill>
                <a:latin typeface="Calibri"/>
              </a:rPr>
              <a:t>Sells enterprise software &amp; AI-driven services in a competitive B2B market. </a:t>
            </a:r>
            <a:br>
              <a:rPr lang="en-US" sz="1350" b="0" i="1" noProof="0" dirty="0">
                <a:solidFill>
                  <a:srgbClr val="5B6066"/>
                </a:solidFill>
                <a:latin typeface="Calibri"/>
              </a:rPr>
            </a:br>
            <a:r>
              <a:rPr lang="en-US" sz="1350" b="0" i="1" noProof="0" dirty="0">
                <a:solidFill>
                  <a:srgbClr val="5B6066"/>
                </a:solidFill>
                <a:latin typeface="Calibri"/>
              </a:rPr>
              <a:t>Hits quota by finding companies actively signaling a need — not by cold-calling blind.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777240" y="240487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300" b="1" i="0" noProof="0" dirty="0">
                <a:solidFill>
                  <a:srgbClr val="D9731E"/>
                </a:solidFill>
                <a:latin typeface="Calibri"/>
              </a:rPr>
              <a:t>SAYS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43200"/>
            <a:ext cx="4892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lang="en-US" sz="1250" noProof="0" dirty="0">
                <a:solidFill>
                  <a:srgbClr val="0A66C2"/>
                </a:solidFill>
                <a:latin typeface="Calibri"/>
              </a:rPr>
              <a:t>•  “I know the leads are out there somewhere on LinkedIn.”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lang="en-US" sz="1250" noProof="0" dirty="0">
                <a:solidFill>
                  <a:srgbClr val="0A66C2"/>
                </a:solidFill>
                <a:latin typeface="Calibri"/>
              </a:rPr>
              <a:t>•  “I don't have hours to scroll every morning.”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6400800" y="240487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300" b="1" i="0" noProof="0" dirty="0">
                <a:solidFill>
                  <a:srgbClr val="D9731E"/>
                </a:solidFill>
                <a:latin typeface="Calibri"/>
              </a:rPr>
              <a:t>THINKS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43200"/>
            <a:ext cx="4892040" cy="101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lang="en-US" sz="1250" noProof="0" dirty="0">
                <a:solidFill>
                  <a:srgbClr val="222427"/>
                </a:solidFill>
                <a:latin typeface="Calibri"/>
              </a:rPr>
              <a:t>•  “Did I miss the perfect post because I searched the wrong week or using the wrong keywords?”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lang="en-US" sz="1250" noProof="0" dirty="0">
                <a:solidFill>
                  <a:srgbClr val="222427"/>
                </a:solidFill>
                <a:latin typeface="Calibri"/>
              </a:rPr>
              <a:t>•  “Sales Navigator finds people — not the moment they're ready to buy.”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434840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777240" y="459943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300" b="1" i="0" noProof="0" dirty="0">
                <a:solidFill>
                  <a:srgbClr val="D9731E"/>
                </a:solidFill>
                <a:latin typeface="Calibri"/>
              </a:rPr>
              <a:t>DOES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937760"/>
            <a:ext cx="4892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lang="en-US" sz="1250" noProof="0" dirty="0">
                <a:solidFill>
                  <a:srgbClr val="222427"/>
                </a:solidFill>
                <a:latin typeface="Calibri"/>
              </a:rPr>
              <a:t>•  Runs the same 5 keyword searches by hand, morning after morning.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lang="en-US" sz="1250" noProof="0" dirty="0">
                <a:solidFill>
                  <a:srgbClr val="222427"/>
                </a:solidFill>
                <a:latin typeface="Calibri"/>
              </a:rPr>
              <a:t>•  Skims hundreds of results by eye, one tab at a 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4434840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6400800" y="459943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300" b="1" i="0" noProof="0" dirty="0">
                <a:solidFill>
                  <a:srgbClr val="D9731E"/>
                </a:solidFill>
                <a:latin typeface="Calibri"/>
              </a:rPr>
              <a:t>FEELS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937760"/>
            <a:ext cx="4892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lang="en-US" sz="1250" noProof="0" dirty="0">
                <a:solidFill>
                  <a:srgbClr val="0A66C2"/>
                </a:solidFill>
                <a:latin typeface="Calibri"/>
              </a:rPr>
              <a:t>•  Behind, every day it isn't done.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lang="en-US" sz="1250" noProof="0" dirty="0">
                <a:solidFill>
                  <a:srgbClr val="0A66C2"/>
                </a:solidFill>
                <a:latin typeface="Calibri"/>
              </a:rPr>
              <a:t>•  Relieved on the rare day she finds a great lead early.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4FB495C-CBE8-1E0E-8C64-B0492024D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5398" y="39243"/>
            <a:ext cx="1876399" cy="2210181"/>
          </a:xfrm>
          <a:prstGeom prst="ellipse">
            <a:avLst/>
          </a:prstGeom>
          <a:ln w="1905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D9731E"/>
                </a:solidFill>
                <a:latin typeface="Calibri"/>
              </a:rPr>
              <a:t>THE PROBLEM &amp; 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900" b="1" i="0" noProof="0" dirty="0">
                <a:solidFill>
                  <a:srgbClr val="0A66C2"/>
                </a:solidFill>
                <a:latin typeface="Calibri"/>
              </a:rPr>
              <a:t>Lead generation eats the day — and the gap is widening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38100"/>
          </a:xfrm>
          <a:prstGeom prst="rect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000" b="0" i="0" noProof="0" dirty="0">
                <a:solidFill>
                  <a:srgbClr val="5B6066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000" b="0" i="0" noProof="0" dirty="0" err="1">
                <a:solidFill>
                  <a:srgbClr val="5B6066"/>
                </a:solidFill>
                <a:latin typeface="Calibri"/>
              </a:rPr>
              <a:t>SalesTeam</a:t>
            </a:r>
            <a:endParaRPr lang="en-US" sz="1000" b="0" i="0" noProof="0" dirty="0">
              <a:solidFill>
                <a:srgbClr val="5B6066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0" noProof="0" dirty="0">
                <a:solidFill>
                  <a:srgbClr val="D9731E"/>
                </a:solidFill>
                <a:latin typeface="Calibr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5166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lang="en-US" sz="1350" b="1" noProof="0" dirty="0">
                <a:solidFill>
                  <a:srgbClr val="222427"/>
                </a:solidFill>
                <a:latin typeface="Calibri"/>
              </a:rPr>
              <a:t>•  Repetitive manual work. </a:t>
            </a:r>
            <a:r>
              <a:rPr lang="en-US" sz="1350" noProof="0" dirty="0">
                <a:solidFill>
                  <a:srgbClr val="222427"/>
                </a:solidFill>
                <a:latin typeface="Calibri"/>
              </a:rPr>
              <a:t>Finding buying-intent signals means running the same keyword searches by hand, across Posts and Jobs, every day.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lang="en-US" sz="1350" b="1" noProof="0" dirty="0">
                <a:solidFill>
                  <a:srgbClr val="222427"/>
                </a:solidFill>
                <a:latin typeface="Calibri"/>
              </a:rPr>
              <a:t>•  Wrong tool, wrong job. </a:t>
            </a:r>
            <a:r>
              <a:rPr lang="en-US" sz="1350" noProof="0" dirty="0">
                <a:solidFill>
                  <a:srgbClr val="222427"/>
                </a:solidFill>
                <a:latin typeface="Calibri"/>
              </a:rPr>
              <a:t>Sales Navigator and enrichment tools find contact info for a name you already have — not who's signaling a need right now.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lang="en-US" sz="1350" b="1" noProof="0" dirty="0">
                <a:solidFill>
                  <a:srgbClr val="222427"/>
                </a:solidFill>
                <a:latin typeface="Calibri"/>
              </a:rPr>
              <a:t>•  The cost. </a:t>
            </a:r>
            <a:r>
              <a:rPr lang="en-US" sz="1350" noProof="0" dirty="0">
                <a:solidFill>
                  <a:srgbClr val="222427"/>
                </a:solidFill>
                <a:latin typeface="Calibri"/>
              </a:rPr>
              <a:t>Hours lost weekly to manual searching — or leads simply missed.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600200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0" noProof="0" dirty="0">
                <a:solidFill>
                  <a:srgbClr val="D9731E"/>
                </a:solidFill>
                <a:latin typeface="Calibri"/>
              </a:rPr>
              <a:t>WHY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1965960"/>
            <a:ext cx="5166360" cy="2287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lang="en-US" sz="1350" b="1" noProof="0" dirty="0">
                <a:solidFill>
                  <a:srgbClr val="222427"/>
                </a:solidFill>
                <a:latin typeface="Calibri"/>
              </a:rPr>
              <a:t>•  More noise. </a:t>
            </a:r>
            <a:r>
              <a:rPr lang="en-US" sz="1350" noProof="0" dirty="0">
                <a:solidFill>
                  <a:srgbClr val="222427"/>
                </a:solidFill>
                <a:latin typeface="Calibri"/>
              </a:rPr>
              <a:t>LinkedIn is bigger and busier than ever — more signal buried under more scroll.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lang="en-US" sz="1350" b="1" noProof="0" dirty="0">
                <a:solidFill>
                  <a:srgbClr val="222427"/>
                </a:solidFill>
                <a:latin typeface="Calibri"/>
              </a:rPr>
              <a:t>•  Riskier shortcuts. </a:t>
            </a:r>
            <a:r>
              <a:rPr lang="en-US" sz="1350" noProof="0" dirty="0">
                <a:solidFill>
                  <a:srgbClr val="222427"/>
                </a:solidFill>
                <a:latin typeface="Calibri"/>
              </a:rPr>
              <a:t>Automation tools like </a:t>
            </a:r>
            <a:r>
              <a:rPr lang="en-US" sz="1350" noProof="0" dirty="0" err="1">
                <a:solidFill>
                  <a:srgbClr val="222427"/>
                </a:solidFill>
                <a:latin typeface="Calibri"/>
              </a:rPr>
              <a:t>Waalaxy</a:t>
            </a:r>
            <a:r>
              <a:rPr lang="en-US" sz="1350" noProof="0" dirty="0">
                <a:solidFill>
                  <a:srgbClr val="222427"/>
                </a:solidFill>
                <a:latin typeface="Calibri"/>
              </a:rPr>
              <a:t>, </a:t>
            </a:r>
            <a:r>
              <a:rPr lang="en-US" sz="1350" noProof="0" dirty="0" err="1">
                <a:solidFill>
                  <a:srgbClr val="222427"/>
                </a:solidFill>
                <a:latin typeface="Calibri"/>
              </a:rPr>
              <a:t>Expandi</a:t>
            </a:r>
            <a:r>
              <a:rPr lang="en-US" sz="1350" noProof="0" dirty="0">
                <a:solidFill>
                  <a:srgbClr val="222427"/>
                </a:solidFill>
                <a:latin typeface="Calibri"/>
              </a:rPr>
              <a:t> and </a:t>
            </a:r>
            <a:r>
              <a:rPr lang="en-US" sz="1350" noProof="0" dirty="0" err="1">
                <a:solidFill>
                  <a:srgbClr val="222427"/>
                </a:solidFill>
                <a:latin typeface="Calibri"/>
              </a:rPr>
              <a:t>Dripify</a:t>
            </a:r>
            <a:r>
              <a:rPr lang="en-US" sz="1350" noProof="0" dirty="0">
                <a:solidFill>
                  <a:srgbClr val="222427"/>
                </a:solidFill>
                <a:latin typeface="Calibri"/>
              </a:rPr>
              <a:t> saw a wave of account restrictions in Jan–Mar 2026, due to abuse of LinkedIn policies.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lang="en-US" sz="1350" b="1" noProof="0" dirty="0">
                <a:solidFill>
                  <a:srgbClr val="222427"/>
                </a:solidFill>
                <a:latin typeface="Calibri"/>
              </a:rPr>
              <a:t>•  The platform caught up. </a:t>
            </a:r>
            <a:r>
              <a:rPr lang="en-US" sz="1350" noProof="0" dirty="0">
                <a:solidFill>
                  <a:srgbClr val="222427"/>
                </a:solidFill>
                <a:latin typeface="Calibri"/>
              </a:rPr>
              <a:t>Manifest V3, Chrome's side panel, and Claude's tool-use API make a careful, reasoning-backed assistant possible now.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212080"/>
            <a:ext cx="10607040" cy="91440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0584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50" b="0" i="1" noProof="0" dirty="0">
                <a:solidFill>
                  <a:srgbClr val="0A66C2"/>
                </a:solidFill>
                <a:latin typeface="Calibri"/>
              </a:rPr>
              <a:t>“Generate sales leads on LinkedIn </a:t>
            </a:r>
            <a:r>
              <a:rPr lang="en-US" sz="1450" b="1" i="1" noProof="0" dirty="0">
                <a:solidFill>
                  <a:srgbClr val="0A66C2"/>
                </a:solidFill>
                <a:latin typeface="Calibri"/>
              </a:rPr>
              <a:t>without spending hours on repetitive manual searches </a:t>
            </a:r>
            <a:r>
              <a:rPr lang="en-US" sz="1450" b="0" i="1" noProof="0" dirty="0">
                <a:solidFill>
                  <a:srgbClr val="0A66C2"/>
                </a:solidFill>
                <a:latin typeface="Calibri"/>
              </a:rPr>
              <a:t>— and </a:t>
            </a:r>
            <a:r>
              <a:rPr lang="en-US" sz="1450" b="1" i="1" noProof="0" dirty="0">
                <a:solidFill>
                  <a:srgbClr val="0A66C2"/>
                </a:solidFill>
                <a:latin typeface="Calibri"/>
              </a:rPr>
              <a:t>without investing in expensive, complicated sales tools</a:t>
            </a:r>
            <a:r>
              <a:rPr lang="en-US" sz="1450" b="0" i="1" noProof="0" dirty="0">
                <a:solidFill>
                  <a:srgbClr val="0A66C2"/>
                </a:solidFill>
                <a:latin typeface="Calibri"/>
              </a:rPr>
              <a:t>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600" b="1" dirty="0">
                <a:solidFill>
                  <a:srgbClr val="D9731E"/>
                </a:solidFill>
                <a:latin typeface="Calibr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A66C2"/>
                </a:solidFill>
                <a:latin typeface="Calibri"/>
              </a:rPr>
              <a:t>Not just a leads generator — an AI sales team in your browser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38100"/>
          </a:xfrm>
          <a:prstGeom prst="rect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SalesTeam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10607040" cy="777240"/>
          </a:xfrm>
          <a:prstGeom prst="roundRect">
            <a:avLst>
              <a:gd name="adj" fmla="val 6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 dirty="0">
                <a:solidFill>
                  <a:srgbClr val="FFFFFF"/>
                </a:solidFill>
                <a:latin typeface="Calibri"/>
              </a:rPr>
              <a:t>An easy-to-use browser-embedded tool that performs smart, automated searches with custom targeting via keywords and filters</a:t>
            </a:r>
            <a:r>
              <a:rPr lang="de-CH" sz="1500" b="0" i="1" dirty="0">
                <a:solidFill>
                  <a:srgbClr val="FFFFFF"/>
                </a:solidFill>
                <a:latin typeface="Calibri"/>
              </a:rPr>
              <a:t>, </a:t>
            </a:r>
            <a:r>
              <a:rPr lang="de-CH" sz="1500" b="0" i="1" dirty="0" err="1">
                <a:solidFill>
                  <a:srgbClr val="FFFFFF"/>
                </a:solidFill>
                <a:latin typeface="Calibri"/>
              </a:rPr>
              <a:t>while</a:t>
            </a:r>
            <a:r>
              <a:rPr lang="de-CH" sz="1500" b="0" i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de-CH" sz="1500" b="0" i="1" dirty="0" err="1">
                <a:solidFill>
                  <a:srgbClr val="FFFFFF"/>
                </a:solidFill>
                <a:latin typeface="Calibri"/>
              </a:rPr>
              <a:t>empowered</a:t>
            </a:r>
            <a:r>
              <a:rPr lang="de-CH" sz="1500" b="0" i="1" dirty="0">
                <a:solidFill>
                  <a:srgbClr val="FFFFFF"/>
                </a:solidFill>
                <a:latin typeface="Calibri"/>
              </a:rPr>
              <a:t> by an AI </a:t>
            </a:r>
            <a:r>
              <a:rPr lang="de-CH" sz="1500" b="0" i="1" dirty="0" err="1">
                <a:solidFill>
                  <a:srgbClr val="FFFFFF"/>
                </a:solidFill>
                <a:latin typeface="Calibri"/>
              </a:rPr>
              <a:t>agents</a:t>
            </a:r>
            <a:r>
              <a:rPr lang="de-CH" sz="1500" b="0" i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de-CH" sz="1500" b="0" i="1" dirty="0" err="1">
                <a:solidFill>
                  <a:srgbClr val="FFFFFF"/>
                </a:solidFill>
                <a:latin typeface="Calibri"/>
              </a:rPr>
              <a:t>sales</a:t>
            </a:r>
            <a:r>
              <a:rPr lang="de-CH" sz="1500" b="0" i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de-CH" sz="1500" b="0" i="1" dirty="0" err="1">
                <a:solidFill>
                  <a:srgbClr val="FFFFFF"/>
                </a:solidFill>
                <a:latin typeface="Calibri"/>
              </a:rPr>
              <a:t>team</a:t>
            </a:r>
            <a:r>
              <a:rPr sz="1500" b="0" i="1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106070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50" b="1">
                <a:solidFill>
                  <a:srgbClr val="222427"/>
                </a:solidFill>
                <a:latin typeface="Calibri"/>
              </a:rPr>
              <a:t>•  Topics. </a:t>
            </a:r>
            <a:r>
              <a:rPr sz="1450">
                <a:solidFill>
                  <a:srgbClr val="222427"/>
                </a:solidFill>
                <a:latin typeface="Calibri"/>
              </a:rPr>
              <a:t>Define reusable keyword groups, with an optional second “AND with” condition.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50" b="1">
                <a:solidFill>
                  <a:srgbClr val="222427"/>
                </a:solidFill>
                <a:latin typeface="Calibri"/>
              </a:rPr>
              <a:t>•  One click. </a:t>
            </a:r>
            <a:r>
              <a:rPr sz="1450">
                <a:solidFill>
                  <a:srgbClr val="222427"/>
                </a:solidFill>
                <a:latin typeface="Calibri"/>
              </a:rPr>
              <a:t>“Scan All Topics” searches every Topic across both LinkedIn Posts and Jobs.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50" b="1">
                <a:solidFill>
                  <a:srgbClr val="222427"/>
                </a:solidFill>
                <a:latin typeface="Calibri"/>
              </a:rPr>
              <a:t>•  One ranked list. </a:t>
            </a:r>
            <a:r>
              <a:rPr sz="1450">
                <a:solidFill>
                  <a:srgbClr val="222427"/>
                </a:solidFill>
                <a:latin typeface="Calibri"/>
              </a:rPr>
              <a:t>Results are merged, deduplicated and ranked — tagged with matched keywords, hiring/freelance signals, and job-ad detection. Competitors and recruiter noise are auto-filtered out, not just left for you to skip past.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50" b="1">
                <a:solidFill>
                  <a:srgbClr val="222427"/>
                </a:solidFill>
                <a:latin typeface="Calibri"/>
              </a:rPr>
              <a:t>•  Safe by design. </a:t>
            </a:r>
            <a:r>
              <a:rPr sz="1450">
                <a:solidFill>
                  <a:srgbClr val="222427"/>
                </a:solidFill>
                <a:latin typeface="Calibri"/>
              </a:rPr>
              <a:t>100% manual-trigger. Nothing runs unattended, so it stays on the safe side of LinkedIn's policies.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50" b="1">
                <a:solidFill>
                  <a:srgbClr val="222427"/>
                </a:solidFill>
                <a:latin typeface="Calibri"/>
              </a:rPr>
              <a:t>•  An AI sales team on top. </a:t>
            </a:r>
            <a:r>
              <a:rPr sz="1450">
                <a:solidFill>
                  <a:srgbClr val="222427"/>
                </a:solidFill>
                <a:latin typeface="Calibri"/>
              </a:rPr>
              <a:t>Specialist agents that prioritize leads, draft outreach, and pressure-test your message — detailed next.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600" b="1" dirty="0">
                <a:solidFill>
                  <a:srgbClr val="D9731E"/>
                </a:solidFill>
                <a:latin typeface="Calibri"/>
              </a:rPr>
              <a:t>THE AI SALES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A66C2"/>
                </a:solidFill>
                <a:latin typeface="Calibri"/>
              </a:rPr>
              <a:t>A growing team of specialist agents, on call 24/7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38100"/>
          </a:xfrm>
          <a:prstGeom prst="rect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SalesTeam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3429000" cy="30175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9731E"/>
                </a:solidFill>
                <a:latin typeface="Calibri"/>
              </a:rPr>
              <a:t>SALES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5B6066"/>
                </a:solidFill>
                <a:latin typeface="Calibri"/>
              </a:rPr>
              <a:t>Full pipeline agent — lead operations.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2971800" cy="14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dirty="0">
                <a:solidFill>
                  <a:srgbClr val="222427"/>
                </a:solidFill>
                <a:latin typeface="Calibri"/>
              </a:rPr>
              <a:t>•  Scans Posts + Jobs, auto-filters out competitors and recruiter noise, and tracks every lead's status end to end.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dirty="0">
                <a:solidFill>
                  <a:srgbClr val="222427"/>
                </a:solidFill>
                <a:latin typeface="Calibri"/>
              </a:rPr>
              <a:t>• 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Gives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priority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 to</a:t>
            </a:r>
            <a:r>
              <a:rPr sz="1200" dirty="0">
                <a:solidFill>
                  <a:srgbClr val="222427"/>
                </a:solidFill>
                <a:latin typeface="Calibri"/>
              </a:rPr>
              <a:t> each new lead P1–P5 by real fit and urgency after every scan — so nothing falls through the cracks.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691640"/>
            <a:ext cx="3429000" cy="301752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4840" y="1874519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9731E"/>
                </a:solidFill>
                <a:latin typeface="Calibri"/>
              </a:rPr>
              <a:t>SALES MENTOR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19456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5B6066"/>
                </a:solidFill>
                <a:latin typeface="Calibri"/>
              </a:rPr>
              <a:t>AI Agent · 25 years of experience.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651760"/>
            <a:ext cx="2971800" cy="14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dirty="0">
                <a:solidFill>
                  <a:srgbClr val="222427"/>
                </a:solidFill>
                <a:latin typeface="Calibri"/>
              </a:rPr>
              <a:t>•  Ask which leads to prioritize, how to approach one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,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drafts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 an optimal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message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 to the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lead’s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contact</a:t>
            </a:r>
            <a:endParaRPr lang="de-CH" sz="1200" dirty="0">
              <a:solidFill>
                <a:srgbClr val="222427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dirty="0">
                <a:solidFill>
                  <a:srgbClr val="222427"/>
                </a:solidFill>
                <a:latin typeface="Calibri"/>
              </a:rPr>
              <a:t>•  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Acts as a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strategic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advisor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 – as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any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question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 on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sales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strategy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,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target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segments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,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sales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process</a:t>
            </a:r>
            <a:r>
              <a:rPr lang="de-CH" sz="1200" dirty="0">
                <a:solidFill>
                  <a:srgbClr val="222427"/>
                </a:solidFill>
                <a:latin typeface="Calibri"/>
              </a:rPr>
              <a:t> and </a:t>
            </a:r>
            <a:r>
              <a:rPr lang="de-CH" sz="1200" dirty="0" err="1">
                <a:solidFill>
                  <a:srgbClr val="222427"/>
                </a:solidFill>
                <a:latin typeface="Calibri"/>
              </a:rPr>
              <a:t>more</a:t>
            </a:r>
            <a:endParaRPr sz="1200" dirty="0">
              <a:solidFill>
                <a:srgbClr val="222427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863840" y="1691640"/>
            <a:ext cx="3429000" cy="30175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92440" y="1874519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9731E"/>
                </a:solidFill>
                <a:latin typeface="Calibri"/>
              </a:rPr>
              <a:t>CUSTOMER VOICE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19456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5B6066"/>
                </a:solidFill>
                <a:latin typeface="Calibri"/>
              </a:rPr>
              <a:t>AI Agent · realistic buyer persona.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651760"/>
            <a:ext cx="2971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dirty="0">
                <a:solidFill>
                  <a:srgbClr val="222427"/>
                </a:solidFill>
                <a:latin typeface="Calibri"/>
              </a:rPr>
              <a:t>•  Bounce a sales pitch or message off it before it ever reaches a real lead.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dirty="0">
                <a:solidFill>
                  <a:srgbClr val="222427"/>
                </a:solidFill>
                <a:latin typeface="Calibri"/>
              </a:rPr>
              <a:t>•  Ask it about needs, pains, or how it prefers to be approached — an open-ended interview, not a fixed script.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92040"/>
            <a:ext cx="10607040" cy="1234440"/>
          </a:xfrm>
          <a:prstGeom prst="roundRect">
            <a:avLst>
              <a:gd name="adj" fmla="val 6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5029200"/>
            <a:ext cx="10058400" cy="796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CH" sz="1300" i="1" dirty="0">
                <a:solidFill>
                  <a:srgbClr val="FFFFFF"/>
                </a:solidFill>
                <a:latin typeface="Calibri"/>
              </a:rPr>
              <a:t>E</a:t>
            </a:r>
            <a:r>
              <a:rPr sz="1300" b="0" i="1" dirty="0">
                <a:solidFill>
                  <a:srgbClr val="FFFFFF"/>
                </a:solidFill>
                <a:latin typeface="Calibri"/>
              </a:rPr>
              <a:t>ach </a:t>
            </a:r>
            <a:r>
              <a:rPr lang="de-CH" sz="1300" b="0" i="1" dirty="0" err="1">
                <a:solidFill>
                  <a:srgbClr val="FFFFFF"/>
                </a:solidFill>
                <a:latin typeface="Calibri"/>
              </a:rPr>
              <a:t>agent</a:t>
            </a:r>
            <a:r>
              <a:rPr lang="de-CH" sz="1300" b="0" i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0" i="1" dirty="0">
                <a:solidFill>
                  <a:srgbClr val="FFFFFF"/>
                </a:solidFill>
                <a:latin typeface="Calibri"/>
              </a:rPr>
              <a:t>just gets a different persona and a different set of tools it can call on its own</a:t>
            </a:r>
            <a:r>
              <a:rPr lang="de-CH" sz="1300" b="0" i="1" dirty="0">
                <a:solidFill>
                  <a:srgbClr val="FFFFFF"/>
                </a:solidFill>
                <a:latin typeface="Calibri"/>
              </a:rPr>
              <a:t> (</a:t>
            </a:r>
            <a:r>
              <a:rPr lang="de-CH" sz="1300" b="0" i="1" dirty="0" err="1">
                <a:solidFill>
                  <a:srgbClr val="FFFFFF"/>
                </a:solidFill>
                <a:latin typeface="Calibri"/>
              </a:rPr>
              <a:t>from</a:t>
            </a:r>
            <a:r>
              <a:rPr lang="de-CH" sz="1300" b="0" i="1" dirty="0">
                <a:solidFill>
                  <a:srgbClr val="FFFFFF"/>
                </a:solidFill>
                <a:latin typeface="Calibri"/>
              </a:rPr>
              <a:t> a </a:t>
            </a:r>
            <a:r>
              <a:rPr lang="de-CH" sz="1300" b="0" i="1" dirty="0" err="1">
                <a:solidFill>
                  <a:srgbClr val="FFFFFF"/>
                </a:solidFill>
                <a:latin typeface="Calibri"/>
              </a:rPr>
              <a:t>share</a:t>
            </a:r>
            <a:r>
              <a:rPr lang="de-CH" sz="1300" b="0" i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de-CH" sz="1300" b="0" i="1" dirty="0" err="1">
                <a:solidFill>
                  <a:srgbClr val="FFFFFF"/>
                </a:solidFill>
                <a:latin typeface="Calibri"/>
              </a:rPr>
              <a:t>set</a:t>
            </a:r>
            <a:r>
              <a:rPr lang="de-CH" sz="1300" b="0" i="1" dirty="0">
                <a:solidFill>
                  <a:srgbClr val="FFFFFF"/>
                </a:solidFill>
                <a:latin typeface="Calibri"/>
              </a:rPr>
              <a:t> of </a:t>
            </a:r>
            <a:r>
              <a:rPr lang="de-CH" sz="1300" b="0" i="1" dirty="0" err="1">
                <a:solidFill>
                  <a:srgbClr val="FFFFFF"/>
                </a:solidFill>
                <a:latin typeface="Calibri"/>
              </a:rPr>
              <a:t>tools</a:t>
            </a:r>
            <a:r>
              <a:rPr lang="de-CH" sz="1300" b="0" i="1" dirty="0">
                <a:solidFill>
                  <a:srgbClr val="FFFFFF"/>
                </a:solidFill>
                <a:latin typeface="Calibri"/>
              </a:rPr>
              <a:t>)</a:t>
            </a:r>
            <a:r>
              <a:rPr sz="1300" b="0" i="1" dirty="0">
                <a:solidFill>
                  <a:srgbClr val="FFFFFF"/>
                </a:solidFill>
                <a:latin typeface="Calibri"/>
              </a:rPr>
              <a:t>. </a:t>
            </a:r>
            <a:endParaRPr lang="de-CH" sz="1300" b="0" i="1" dirty="0">
              <a:solidFill>
                <a:srgbClr val="FFFFFF"/>
              </a:solidFill>
              <a:latin typeface="Calibri"/>
            </a:endParaRP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1300" b="0" i="1" dirty="0">
                <a:solidFill>
                  <a:srgbClr val="FFFFFF"/>
                </a:solidFill>
                <a:latin typeface="Calibri"/>
              </a:rPr>
              <a:t>That's genuine agentic AI: the model decides what it needs to look up, not a scripted chatbot. </a:t>
            </a:r>
            <a:endParaRPr lang="de-CH" sz="1300" b="0" i="1" dirty="0">
              <a:solidFill>
                <a:srgbClr val="FFFFFF"/>
              </a:solidFill>
              <a:latin typeface="Calibri"/>
            </a:endParaRP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1300" b="0" i="1" dirty="0">
                <a:solidFill>
                  <a:srgbClr val="FFFFFF"/>
                </a:solidFill>
                <a:latin typeface="Calibri"/>
              </a:rPr>
              <a:t>More specialist agents join the team as new needs surface.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600" b="1" dirty="0">
                <a:solidFill>
                  <a:srgbClr val="D9731E"/>
                </a:solidFill>
                <a:latin typeface="Calibri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A66C2"/>
                </a:solidFill>
                <a:latin typeface="Calibri"/>
              </a:rPr>
              <a:t>See it live →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38100"/>
          </a:xfrm>
          <a:prstGeom prst="rect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SalesTeam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011680" cy="33832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31520" y="2057400"/>
            <a:ext cx="457200" cy="457200"/>
          </a:xfrm>
          <a:prstGeom prst="ellipse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651760"/>
            <a:ext cx="16824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A66C2"/>
                </a:solidFill>
                <a:latin typeface="Calibri"/>
              </a:rPr>
              <a:t>Define Topics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383280"/>
            <a:ext cx="168249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066"/>
                </a:solidFill>
                <a:latin typeface="Calibri"/>
              </a:rPr>
              <a:t>What to find (e.g. “AI Transformation”) and what to auto-filter out (competitors, recruiters).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828800"/>
            <a:ext cx="2011680" cy="33832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971800" y="2057400"/>
            <a:ext cx="457200" cy="457200"/>
          </a:xfrm>
          <a:prstGeom prst="ellipse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3512" y="2651760"/>
            <a:ext cx="16824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A66C2"/>
                </a:solidFill>
                <a:latin typeface="Calibri"/>
              </a:rPr>
              <a:t>Click “Scan All Topics”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3512" y="3383280"/>
            <a:ext cx="168249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066"/>
                </a:solidFill>
                <a:latin typeface="Calibri"/>
              </a:rPr>
              <a:t>Searches Posts + Jobs, filters the noise, then scores every new lead P1–P5.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828800"/>
            <a:ext cx="2011680" cy="33832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212080" y="2057400"/>
            <a:ext cx="457200" cy="457200"/>
          </a:xfrm>
          <a:prstGeom prst="ellipse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2651760"/>
            <a:ext cx="16824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A66C2"/>
                </a:solidFill>
                <a:latin typeface="Calibri"/>
              </a:rPr>
              <a:t>Open the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792" y="3383280"/>
            <a:ext cx="168249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066"/>
                </a:solidFill>
                <a:latin typeface="Calibri"/>
              </a:rPr>
              <a:t>One sortable, filterable pipeline — highest-priority leads on top, low-priority hidden by default.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0" y="1828800"/>
            <a:ext cx="2011680" cy="33832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452360" y="2057400"/>
            <a:ext cx="457200" cy="457200"/>
          </a:xfrm>
          <a:prstGeom prst="ellipse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34072" y="2651760"/>
            <a:ext cx="16824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A66C2"/>
                </a:solidFill>
                <a:latin typeface="Calibri"/>
              </a:rPr>
              <a:t>Ask Sales Mentor for advice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34072" y="3383280"/>
            <a:ext cx="168249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066"/>
                </a:solidFill>
                <a:latin typeface="Calibri"/>
              </a:rPr>
              <a:t>“Which lead should I approach first?” — grounded in your real results.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1828800"/>
            <a:ext cx="2011680" cy="33832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692640" y="2057400"/>
            <a:ext cx="457200" cy="457200"/>
          </a:xfrm>
          <a:prstGeom prst="ellipse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74352" y="2651760"/>
            <a:ext cx="16824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A66C2"/>
                </a:solidFill>
                <a:latin typeface="Calibri"/>
              </a:rPr>
              <a:t>Ask Sales Mentor to draft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74352" y="3383280"/>
            <a:ext cx="168249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066"/>
                </a:solidFill>
                <a:latin typeface="Calibri"/>
              </a:rPr>
              <a:t>Turns its own recommendation into a ready-to-send opening line.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440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5B6066"/>
                </a:solidFill>
                <a:latin typeface="Calibri"/>
              </a:rPr>
              <a:t>(Switch to the extension's side panel now for the live walkthrough.)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9731E"/>
                </a:solidFill>
                <a:latin typeface="Calibr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A66C2"/>
                </a:solidFill>
                <a:latin typeface="Calibri"/>
              </a:rPr>
              <a:t>Runs inside your own LinkedIn session — architecture underneath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38100"/>
          </a:xfrm>
          <a:prstGeom prst="rect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SalesTeam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60704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00000"/>
              </a:lnSpc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sz="1100" b="1" dirty="0">
                <a:solidFill>
                  <a:srgbClr val="222427"/>
                </a:solidFill>
                <a:latin typeface="Calibri"/>
              </a:rPr>
              <a:t>Native browser extension. </a:t>
            </a:r>
            <a:r>
              <a:rPr sz="1100" dirty="0">
                <a:solidFill>
                  <a:srgbClr val="222427"/>
                </a:solidFill>
                <a:latin typeface="Calibri"/>
              </a:rPr>
              <a:t>Chrome/Edge, Manifest V3, in the side panel next to LinkedIn.</a:t>
            </a:r>
          </a:p>
          <a:p>
            <a:pPr marL="171450" indent="-171450">
              <a:lnSpc>
                <a:spcPct val="100000"/>
              </a:lnSpc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de-CH" sz="1100" b="1" dirty="0" err="1">
                <a:solidFill>
                  <a:srgbClr val="222427"/>
                </a:solidFill>
                <a:latin typeface="Calibri"/>
              </a:rPr>
              <a:t>Simulates</a:t>
            </a:r>
            <a:r>
              <a:rPr lang="de-CH" sz="1100" b="1" dirty="0">
                <a:solidFill>
                  <a:srgbClr val="222427"/>
                </a:solidFill>
                <a:latin typeface="Calibri"/>
              </a:rPr>
              <a:t> a human </a:t>
            </a:r>
            <a:r>
              <a:rPr lang="de-CH" sz="1100" b="1" dirty="0" err="1">
                <a:solidFill>
                  <a:srgbClr val="222427"/>
                </a:solidFill>
                <a:latin typeface="Calibri"/>
              </a:rPr>
              <a:t>searching</a:t>
            </a:r>
            <a:r>
              <a:rPr lang="de-CH" sz="1100" b="1" dirty="0">
                <a:solidFill>
                  <a:srgbClr val="222427"/>
                </a:solidFill>
                <a:latin typeface="Calibri"/>
              </a:rPr>
              <a:t> in LinkedIn – </a:t>
            </a:r>
            <a:r>
              <a:rPr lang="de-CH" sz="1100" b="1" dirty="0" err="1">
                <a:solidFill>
                  <a:srgbClr val="222427"/>
                </a:solidFill>
                <a:latin typeface="Calibri"/>
              </a:rPr>
              <a:t>stays</a:t>
            </a:r>
            <a:r>
              <a:rPr lang="de-CH" sz="1100" b="1" dirty="0">
                <a:solidFill>
                  <a:srgbClr val="222427"/>
                </a:solidFill>
                <a:latin typeface="Calibri"/>
              </a:rPr>
              <a:t> </a:t>
            </a:r>
            <a:r>
              <a:rPr lang="de-CH" sz="1100" b="1" dirty="0" err="1">
                <a:solidFill>
                  <a:srgbClr val="222427"/>
                </a:solidFill>
                <a:latin typeface="Calibri"/>
              </a:rPr>
              <a:t>compliant</a:t>
            </a:r>
            <a:r>
              <a:rPr lang="de-CH" sz="1100" b="1" dirty="0">
                <a:solidFill>
                  <a:srgbClr val="222427"/>
                </a:solidFill>
                <a:latin typeface="Calibri"/>
              </a:rPr>
              <a:t> </a:t>
            </a:r>
            <a:r>
              <a:rPr lang="de-CH" sz="1100" b="1" dirty="0" err="1">
                <a:solidFill>
                  <a:srgbClr val="222427"/>
                </a:solidFill>
                <a:latin typeface="Calibri"/>
              </a:rPr>
              <a:t>with</a:t>
            </a:r>
            <a:r>
              <a:rPr lang="de-CH" sz="1100" b="1" dirty="0">
                <a:solidFill>
                  <a:srgbClr val="222427"/>
                </a:solidFill>
                <a:latin typeface="Calibri"/>
              </a:rPr>
              <a:t> the LinkedIn </a:t>
            </a:r>
            <a:r>
              <a:rPr lang="de-CH" sz="1100" b="1" dirty="0" err="1">
                <a:solidFill>
                  <a:srgbClr val="222427"/>
                </a:solidFill>
                <a:latin typeface="Calibri"/>
              </a:rPr>
              <a:t>policies</a:t>
            </a:r>
            <a:endParaRPr lang="de-CH" sz="1100" b="1" dirty="0">
              <a:solidFill>
                <a:srgbClr val="222427"/>
              </a:solidFill>
              <a:latin typeface="Calibri"/>
            </a:endParaRPr>
          </a:p>
          <a:p>
            <a:pPr marL="171450" indent="-171450">
              <a:lnSpc>
                <a:spcPct val="100000"/>
              </a:lnSpc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sz="1100" b="1" dirty="0">
                <a:solidFill>
                  <a:srgbClr val="222427"/>
                </a:solidFill>
                <a:latin typeface="Calibri"/>
              </a:rPr>
              <a:t>Adaptive query-chunking. </a:t>
            </a:r>
            <a:r>
              <a:rPr sz="1100" dirty="0">
                <a:solidFill>
                  <a:srgbClr val="222427"/>
                </a:solidFill>
                <a:latin typeface="Calibri"/>
              </a:rPr>
              <a:t>Works around LinkedIn's undocumented search-complexity limits automatically.</a:t>
            </a:r>
          </a:p>
          <a:p>
            <a:pPr marL="171450" indent="-171450">
              <a:lnSpc>
                <a:spcPct val="100000"/>
              </a:lnSpc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sz="1100" b="1" dirty="0">
                <a:solidFill>
                  <a:srgbClr val="222427"/>
                </a:solidFill>
                <a:latin typeface="Calibri"/>
              </a:rPr>
              <a:t>Agents call tools, not scripts. </a:t>
            </a:r>
            <a:r>
              <a:rPr sz="1100" dirty="0">
                <a:solidFill>
                  <a:srgbClr val="222427"/>
                </a:solidFill>
                <a:latin typeface="Calibri"/>
              </a:rPr>
              <a:t>Claude decides, mid-conversation, when to fetch real lead data.</a:t>
            </a:r>
          </a:p>
          <a:p>
            <a:pPr marL="171450" indent="-171450">
              <a:lnSpc>
                <a:spcPct val="100000"/>
              </a:lnSpc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sz="1100" b="1" dirty="0">
                <a:solidFill>
                  <a:srgbClr val="222427"/>
                </a:solidFill>
                <a:latin typeface="Calibri"/>
              </a:rPr>
              <a:t>Your data stays yours. </a:t>
            </a:r>
            <a:r>
              <a:rPr sz="1100" dirty="0">
                <a:solidFill>
                  <a:srgbClr val="222427"/>
                </a:solidFill>
                <a:latin typeface="Calibri"/>
              </a:rPr>
              <a:t>Only the AI features send lead text to Anthropic, using your own key.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442836"/>
            <a:ext cx="1828800" cy="12344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35342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5B6066"/>
                </a:solidFill>
                <a:latin typeface="Calibri"/>
              </a:rPr>
              <a:t>LinkedIn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26884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5B6066"/>
                </a:solidFill>
                <a:latin typeface="Calibri"/>
              </a:rPr>
              <a:t>Third-party · Posts &amp; Jobs pages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3031356"/>
            <a:ext cx="2788920" cy="118872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88920" y="3122796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A66C2"/>
                </a:solidFill>
                <a:latin typeface="Calibri"/>
              </a:rPr>
              <a:t>Side Panel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3415404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0A66C2"/>
                </a:solidFill>
                <a:latin typeface="Calibri"/>
              </a:rPr>
              <a:t>Built · Topics, Negative
Topics, scan trigger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3031356"/>
            <a:ext cx="2788920" cy="118872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06440" y="3122796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A66C2"/>
                </a:solidFill>
                <a:latin typeface="Calibri"/>
              </a:rPr>
              <a:t>Background Worker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3415404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0A66C2"/>
                </a:solidFill>
                <a:latin typeface="Calibri"/>
              </a:rPr>
              <a:t>Built · plans searches,
drives the scan tab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06440" y="4448676"/>
            <a:ext cx="2788920" cy="96012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06440" y="4540116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A66C2"/>
                </a:solidFill>
                <a:latin typeface="Calibri"/>
              </a:rPr>
              <a:t>Content Scripts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4832724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0A66C2"/>
                </a:solidFill>
                <a:latin typeface="Calibri"/>
              </a:rPr>
              <a:t>Built · reads LinkedIn's
rendered page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4448676"/>
            <a:ext cx="2788920" cy="9601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88920" y="4540116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22427"/>
                </a:solidFill>
                <a:latin typeface="Calibri"/>
              </a:rPr>
              <a:t>Local Storage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4832724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222427"/>
                </a:solidFill>
                <a:latin typeface="Calibri"/>
              </a:rPr>
              <a:t>Browser API · on this device only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3442836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52560" y="3534276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5B6066"/>
                </a:solidFill>
                <a:latin typeface="Calibri"/>
              </a:rPr>
              <a:t>Anthropic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826884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5B6066"/>
                </a:solidFill>
                <a:latin typeface="Calibri"/>
              </a:rPr>
              <a:t>Third-party · drafts + agents,
your own key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2286000" y="3625716"/>
            <a:ext cx="502920" cy="137160"/>
          </a:xfrm>
          <a:prstGeom prst="line">
            <a:avLst/>
          </a:prstGeom>
          <a:ln>
            <a:solidFill>
              <a:srgbClr val="5B6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48840" y="3945756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B6066"/>
                </a:solidFill>
                <a:latin typeface="Calibri"/>
              </a:rPr>
              <a:t>navigate /
scrape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577840" y="3625716"/>
            <a:ext cx="228600" cy="0"/>
          </a:xfrm>
          <a:prstGeom prst="line">
            <a:avLst/>
          </a:prstGeom>
          <a:ln>
            <a:solidFill>
              <a:srgbClr val="5B6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120640" y="3698868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5000"/>
              </a:lnSpc>
            </a:pPr>
            <a:r>
              <a:rPr sz="750" b="0" i="0">
                <a:solidFill>
                  <a:srgbClr val="5B6066"/>
                </a:solidFill>
                <a:latin typeface="Calibri"/>
              </a:rPr>
              <a:t>scan
request /
progress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196328" y="4220076"/>
            <a:ext cx="0" cy="228600"/>
          </a:xfrm>
          <a:prstGeom prst="line">
            <a:avLst/>
          </a:prstGeom>
          <a:ln>
            <a:solidFill>
              <a:srgbClr val="5B6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315200" y="4247507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B6066"/>
                </a:solidFill>
                <a:latin typeface="Calibri"/>
              </a:rPr>
              <a:t>scraped leads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178808" y="4220076"/>
            <a:ext cx="0" cy="228600"/>
          </a:xfrm>
          <a:prstGeom prst="line">
            <a:avLst/>
          </a:prstGeom>
          <a:ln>
            <a:solidFill>
              <a:srgbClr val="5B6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331720" y="4247507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5B6066"/>
                </a:solidFill>
                <a:latin typeface="Calibri"/>
              </a:rPr>
              <a:t>settings + results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577840" y="4905876"/>
            <a:ext cx="228600" cy="0"/>
          </a:xfrm>
          <a:prstGeom prst="line">
            <a:avLst/>
          </a:prstGeom>
          <a:ln>
            <a:solidFill>
              <a:srgbClr val="5B6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120640" y="4979028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5000"/>
              </a:lnSpc>
            </a:pPr>
            <a:r>
              <a:rPr sz="750" b="0" i="0">
                <a:solidFill>
                  <a:srgbClr val="5B6066"/>
                </a:solidFill>
                <a:latin typeface="Calibri"/>
              </a:rPr>
              <a:t>reads /
writes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4183380" y="2802756"/>
            <a:ext cx="0" cy="228600"/>
          </a:xfrm>
          <a:prstGeom prst="line">
            <a:avLst/>
          </a:prstGeom>
          <a:ln>
            <a:solidFill>
              <a:srgbClr val="5B6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183380" y="2802756"/>
            <a:ext cx="6172200" cy="0"/>
          </a:xfrm>
          <a:prstGeom prst="line">
            <a:avLst/>
          </a:prstGeom>
          <a:ln>
            <a:solidFill>
              <a:srgbClr val="5B6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355580" y="2802756"/>
            <a:ext cx="0" cy="640080"/>
          </a:xfrm>
          <a:prstGeom prst="line">
            <a:avLst/>
          </a:prstGeom>
          <a:ln>
            <a:solidFill>
              <a:srgbClr val="5B6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120640" y="2449752"/>
            <a:ext cx="4297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B6066"/>
                </a:solidFill>
                <a:latin typeface="Calibri"/>
              </a:rPr>
              <a:t>prompt + tools →   ← draft / tool call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636961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 dirty="0">
                <a:solidFill>
                  <a:srgbClr val="5B6066"/>
                </a:solidFill>
                <a:latin typeface="Calibri"/>
              </a:rPr>
              <a:t>No server of our own — everything above runs on your device or a third-party API you already trust. Three more pages now share this same local data: a Dashboard (pipeline + AI prioritization), Advisors, and Settings.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600" b="1" dirty="0">
                <a:solidFill>
                  <a:srgbClr val="D9731E"/>
                </a:solidFill>
                <a:latin typeface="Calibri"/>
              </a:rP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A66C2"/>
                </a:solidFill>
                <a:latin typeface="Calibri"/>
              </a:rPr>
              <a:t>Grounded in real market data, not invented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38100"/>
          </a:xfrm>
          <a:prstGeom prst="rect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SalesTeam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5120640" cy="1234440"/>
          </a:xfrm>
          <a:prstGeom prst="roundRect">
            <a:avLst>
              <a:gd name="adj" fmla="val 6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TAM  —  $4.85B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29384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~8M B2B sellers worldwide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85416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FFFFFF"/>
                </a:solidFill>
                <a:latin typeface="Calibri"/>
              </a:rPr>
              <a:t>Global sales intelligence software market, 2025  ·  Sourced 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80360"/>
            <a:ext cx="5120640" cy="1234440"/>
          </a:xfrm>
          <a:prstGeom prst="roundRect">
            <a:avLst>
              <a:gd name="adj" fmla="val 6000"/>
            </a:avLst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9718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SAM  —  ~$730M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00984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~1.2M individual / SMB sellers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57016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FFFFFF"/>
                </a:solidFill>
                <a:latin typeface="Calibri"/>
              </a:rPr>
              <a:t>Our estimate: ~15% of TAM — the slice without a full enterprise sales-intelligence budget  ·  Our estimate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51960"/>
            <a:ext cx="5120640" cy="1234440"/>
          </a:xfrm>
          <a:prstGeom prst="roundRect">
            <a:avLst>
              <a:gd name="adj" fmla="val 6000"/>
            </a:avLst>
          </a:prstGeom>
          <a:solidFill>
            <a:srgbClr val="D97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SOM  —  ~$146M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72584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~240K potential buyers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928616"/>
            <a:ext cx="4663440" cy="231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1" dirty="0">
                <a:solidFill>
                  <a:srgbClr val="FFFFFF"/>
                </a:solidFill>
                <a:latin typeface="Calibri"/>
              </a:rPr>
              <a:t>Our estimate: ~20% of SAM — realistically reachable over several years, not a year-1 target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15087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66C2"/>
                </a:solidFill>
                <a:latin typeface="Calibri"/>
              </a:rPr>
              <a:t>TAM growth, 2025–2030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18288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B6066"/>
                </a:solidFill>
                <a:latin typeface="Calibri"/>
              </a:rPr>
              <a:t>11.10% CAGR · Fortune Business Insights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92824" y="3531661"/>
            <a:ext cx="621792" cy="1543259"/>
          </a:xfrm>
          <a:prstGeom prst="roundRect">
            <a:avLst>
              <a:gd name="adj" fmla="val 12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01384" y="3275629"/>
            <a:ext cx="804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222427"/>
                </a:solidFill>
                <a:latin typeface="Calibri"/>
              </a:rPr>
              <a:t>$4.85B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4" y="5120640"/>
            <a:ext cx="804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B6066"/>
                </a:solidFill>
                <a:latin typeface="Calibri"/>
              </a:rPr>
              <a:t>2025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366198"/>
            <a:ext cx="621792" cy="1708722"/>
          </a:xfrm>
          <a:prstGeom prst="roundRect">
            <a:avLst>
              <a:gd name="adj" fmla="val 12000"/>
            </a:avLst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69480" y="3110166"/>
            <a:ext cx="804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222427"/>
                </a:solidFill>
                <a:latin typeface="Calibri"/>
              </a:rPr>
              <a:t>$5.37B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5120640"/>
            <a:ext cx="804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B6066"/>
                </a:solidFill>
                <a:latin typeface="Calibri"/>
              </a:rPr>
              <a:t>2026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29016" y="3175280"/>
            <a:ext cx="621792" cy="1899640"/>
          </a:xfrm>
          <a:prstGeom prst="roundRect">
            <a:avLst>
              <a:gd name="adj" fmla="val 12000"/>
            </a:avLst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37576" y="2919248"/>
            <a:ext cx="804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222427"/>
                </a:solidFill>
                <a:latin typeface="Calibri"/>
              </a:rPr>
              <a:t>$5.97B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37576" y="5120640"/>
            <a:ext cx="804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B6066"/>
                </a:solidFill>
                <a:latin typeface="Calibri"/>
              </a:rPr>
              <a:t>2027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97112" y="2965269"/>
            <a:ext cx="621792" cy="2109651"/>
          </a:xfrm>
          <a:prstGeom prst="roundRect">
            <a:avLst>
              <a:gd name="adj" fmla="val 12000"/>
            </a:avLst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805672" y="2709237"/>
            <a:ext cx="804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222427"/>
                </a:solidFill>
                <a:latin typeface="Calibri"/>
              </a:rPr>
              <a:t>$6.63B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05672" y="5120640"/>
            <a:ext cx="804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B6066"/>
                </a:solidFill>
                <a:latin typeface="Calibri"/>
              </a:rPr>
              <a:t>2028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65208" y="2729803"/>
            <a:ext cx="621792" cy="2345117"/>
          </a:xfrm>
          <a:prstGeom prst="roundRect">
            <a:avLst>
              <a:gd name="adj" fmla="val 12000"/>
            </a:avLst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573768" y="2473771"/>
            <a:ext cx="804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222427"/>
                </a:solidFill>
                <a:latin typeface="Calibri"/>
              </a:rPr>
              <a:t>$7.37B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73768" y="5120640"/>
            <a:ext cx="804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B6066"/>
                </a:solidFill>
                <a:latin typeface="Calibri"/>
              </a:rPr>
              <a:t>2029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33304" y="2468880"/>
            <a:ext cx="621792" cy="2606040"/>
          </a:xfrm>
          <a:prstGeom prst="roundRect">
            <a:avLst>
              <a:gd name="adj" fmla="val 12000"/>
            </a:avLst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341864" y="2212848"/>
            <a:ext cx="804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222427"/>
                </a:solidFill>
                <a:latin typeface="Calibri"/>
              </a:rPr>
              <a:t>$8.19B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41864" y="5120640"/>
            <a:ext cx="804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B6066"/>
                </a:solidFill>
                <a:latin typeface="Calibri"/>
              </a:rPr>
              <a:t>2030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66928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7240" y="5742432"/>
            <a:ext cx="10424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1">
                <a:solidFill>
                  <a:srgbClr val="5B6066"/>
                </a:solidFill>
                <a:latin typeface="Calibri"/>
              </a:rPr>
              <a:t>Sources: TAM and 5-year projection (11.10% CAGR) from Fortune Business Insights' Sales Intelligence Market report. Buyer counts extrapolated from U.S. Bureau/industry data (~2.5–3M B2B sellers in the U.S.) scaled to a global estimate — not an independently sourced global figure. SAM and SOM buyer counts and market size are our own estimates.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600" b="1" dirty="0">
                <a:solidFill>
                  <a:srgbClr val="D9731E"/>
                </a:solidFill>
                <a:latin typeface="Calibri"/>
              </a:rPr>
              <a:t>THE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A66C2"/>
                </a:solidFill>
                <a:latin typeface="Calibri"/>
              </a:rPr>
              <a:t>Everyone solves a slice. We watch the signal — and coach the play.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38100"/>
          </a:xfrm>
          <a:prstGeom prst="rect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SalesTeam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1292840" cy="3406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0A66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Runs in your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session</a:t>
                      </a:r>
                    </a:p>
                  </a:txBody>
                  <a:tcPr>
                    <a:solidFill>
                      <a:srgbClr val="0A66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Finds intent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signals</a:t>
                      </a:r>
                    </a:p>
                  </a:txBody>
                  <a:tcPr>
                    <a:solidFill>
                      <a:srgbClr val="0A66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outreach-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automation risk</a:t>
                      </a:r>
                    </a:p>
                  </a:txBody>
                  <a:tcPr>
                    <a:solidFill>
                      <a:srgbClr val="0A66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AI sales team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 support</a:t>
                      </a:r>
                    </a:p>
                  </a:txBody>
                  <a:tcPr>
                    <a:solidFill>
                      <a:srgbClr val="0A66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Price</a:t>
                      </a:r>
                    </a:p>
                  </a:txBody>
                  <a:tcPr>
                    <a:solidFill>
                      <a:srgbClr val="0A66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427"/>
                          </a:solidFill>
                          <a:latin typeface="Calibri"/>
                        </a:rPr>
                        <a:t>Sales Navigator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7A4C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A32A2A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7A4C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A32A2A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427"/>
                          </a:solidFill>
                          <a:latin typeface="Calibri"/>
                        </a:rPr>
                        <a:t>$99.99/mo/seat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427"/>
                          </a:solidFill>
                          <a:latin typeface="Calibri"/>
                        </a:rPr>
                        <a:t>Contact enrichment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222427"/>
                          </a:solidFill>
                          <a:latin typeface="Calibri"/>
                        </a:rPr>
                        <a:t>(Apollo, Lusha, Kaspr, ZoomInfo)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A32A2A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A32A2A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7A4C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A32A2A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427"/>
                          </a:solidFill>
                          <a:latin typeface="Calibri"/>
                        </a:rPr>
                        <a:t>$39–166/mo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427"/>
                          </a:solidFill>
                          <a:latin typeface="Calibri"/>
                        </a:rPr>
                        <a:t>Outreach automation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222427"/>
                          </a:solidFill>
                          <a:latin typeface="Calibri"/>
                        </a:rPr>
                        <a:t>(Waalaxy, PhantomBuster, Dux-Soup...)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9731E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9731E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A32A2A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A32A2A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427"/>
                          </a:solidFill>
                          <a:latin typeface="Calibri"/>
                        </a:rPr>
                        <a:t>$30–120/mo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427"/>
                          </a:solidFill>
                          <a:latin typeface="Calibri"/>
                        </a:rPr>
                        <a:t>Manual browsing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7A4C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D9731E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7A4C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A32A2A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427"/>
                          </a:solidFill>
                          <a:latin typeface="Calibri"/>
                        </a:rPr>
                        <a:t>Free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A66C2"/>
                          </a:solidFill>
                          <a:latin typeface="Calibri"/>
                        </a:rPr>
                        <a:t>SalesTeam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7A4C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7A4C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7A4C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7A4C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A66C2"/>
                          </a:solidFill>
                          <a:latin typeface="Calibri"/>
                        </a:rPr>
                        <a:t>Free – $19/mo</a:t>
                      </a:r>
                    </a:p>
                  </a:txBody>
                  <a:tcPr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166360"/>
            <a:ext cx="11292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5B6066"/>
                </a:solidFill>
                <a:latin typeface="Calibri"/>
              </a:rPr>
              <a:t>● = partial   ✗ = no. ~40% of accounts on flagged automation tools were restricted in a single quarter (Jan–Mar 2026). No competitor offers an AI sales team backing up the seller.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600" b="1" dirty="0">
                <a:solidFill>
                  <a:srgbClr val="D9731E"/>
                </a:solidFill>
                <a:latin typeface="Calibri"/>
              </a:rPr>
              <a:t>EARLY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A66C2"/>
                </a:solidFill>
                <a:latin typeface="Calibri"/>
              </a:rPr>
              <a:t>A working alpha, not a mockup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38100"/>
          </a:xfrm>
          <a:prstGeom prst="rect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SalesTeam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607040" cy="2016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400" b="1" dirty="0">
                <a:solidFill>
                  <a:srgbClr val="222427"/>
                </a:solidFill>
                <a:latin typeface="Calibri"/>
              </a:rPr>
              <a:t>•  Shipped. </a:t>
            </a:r>
            <a:r>
              <a:rPr sz="1400" dirty="0">
                <a:solidFill>
                  <a:srgbClr val="222427"/>
                </a:solidFill>
                <a:latin typeface="Calibri"/>
              </a:rPr>
              <a:t>v0.6 built and running today — Posts + Jobs scanning (English &amp; German), AI-drafted outreach, and working AI agents: Sales Mentor and Customer Voice, with the Sales Assistant's own agent capabilities next.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400" b="1" dirty="0">
                <a:solidFill>
                  <a:srgbClr val="222427"/>
                </a:solidFill>
                <a:latin typeface="Calibri"/>
              </a:rPr>
              <a:t>•  Proven at scale, live. </a:t>
            </a:r>
            <a:r>
              <a:rPr sz="1400" dirty="0">
                <a:solidFill>
                  <a:srgbClr val="222427"/>
                </a:solidFill>
                <a:latin typeface="Calibri"/>
              </a:rPr>
              <a:t>After a real optimization pass, one batch scan surfaced 75 ranked leads across Posts and Jobs </a:t>
            </a:r>
            <a:r>
              <a:rPr lang="de-CH" sz="1400" dirty="0">
                <a:solidFill>
                  <a:srgbClr val="222427"/>
                </a:solidFill>
                <a:latin typeface="Calibri"/>
              </a:rPr>
              <a:t> </a:t>
            </a:r>
            <a:endParaRPr sz="1400" dirty="0">
              <a:solidFill>
                <a:srgbClr val="222427"/>
              </a:solidFill>
              <a:latin typeface="Calibri"/>
            </a:endParaRP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400" b="1" dirty="0">
                <a:solidFill>
                  <a:srgbClr val="222427"/>
                </a:solidFill>
                <a:latin typeface="Calibri"/>
              </a:rPr>
              <a:t>•  Real agent conversations, not mockups. </a:t>
            </a:r>
            <a:r>
              <a:rPr sz="1400" dirty="0">
                <a:solidFill>
                  <a:srgbClr val="222427"/>
                </a:solidFill>
                <a:latin typeface="Calibri"/>
              </a:rPr>
              <a:t>Sales Mentor and Customer Voice already hold real tool-calling conversations grounded in </a:t>
            </a:r>
            <a:r>
              <a:rPr lang="de-CH" sz="1400" dirty="0" err="1">
                <a:solidFill>
                  <a:srgbClr val="222427"/>
                </a:solidFill>
                <a:latin typeface="Calibri"/>
              </a:rPr>
              <a:t>market</a:t>
            </a:r>
            <a:r>
              <a:rPr lang="de-CH" sz="1400" dirty="0">
                <a:solidFill>
                  <a:srgbClr val="222427"/>
                </a:solidFill>
                <a:latin typeface="Calibri"/>
              </a:rPr>
              <a:t> </a:t>
            </a:r>
            <a:r>
              <a:rPr lang="de-CH" sz="1400" dirty="0" err="1">
                <a:solidFill>
                  <a:srgbClr val="222427"/>
                </a:solidFill>
                <a:latin typeface="Calibri"/>
              </a:rPr>
              <a:t>knowledge</a:t>
            </a:r>
            <a:r>
              <a:rPr lang="de-CH" sz="1400" dirty="0">
                <a:solidFill>
                  <a:srgbClr val="222427"/>
                </a:solidFill>
                <a:latin typeface="Calibri"/>
              </a:rPr>
              <a:t> and</a:t>
            </a:r>
            <a:r>
              <a:rPr sz="1400" dirty="0">
                <a:solidFill>
                  <a:srgbClr val="222427"/>
                </a:solidFill>
                <a:latin typeface="Calibri"/>
              </a:rPr>
              <a:t> lead data.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400" b="1" dirty="0">
                <a:solidFill>
                  <a:srgbClr val="222427"/>
                </a:solidFill>
                <a:latin typeface="Calibri"/>
              </a:rPr>
              <a:t>•  </a:t>
            </a:r>
            <a:r>
              <a:rPr lang="de-CH" sz="1400" b="1" dirty="0">
                <a:solidFill>
                  <a:srgbClr val="222427"/>
                </a:solidFill>
                <a:latin typeface="Calibri"/>
              </a:rPr>
              <a:t>R</a:t>
            </a:r>
            <a:r>
              <a:rPr sz="1400" b="1" dirty="0" err="1">
                <a:solidFill>
                  <a:srgbClr val="222427"/>
                </a:solidFill>
                <a:latin typeface="Calibri"/>
              </a:rPr>
              <a:t>eal</a:t>
            </a:r>
            <a:r>
              <a:rPr sz="1400" b="1" dirty="0">
                <a:solidFill>
                  <a:srgbClr val="222427"/>
                </a:solidFill>
                <a:latin typeface="Calibri"/>
              </a:rPr>
              <a:t> feedback. </a:t>
            </a:r>
            <a:r>
              <a:rPr sz="1400" dirty="0">
                <a:solidFill>
                  <a:srgbClr val="222427"/>
                </a:solidFill>
                <a:latin typeface="Calibri"/>
              </a:rPr>
              <a:t>In active use by a real sales team lead — whose real usage has already surfaced and fixed genuine reliability bugs.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607040" cy="1005840"/>
          </a:xfrm>
          <a:prstGeom prst="roundRect">
            <a:avLst>
              <a:gd name="adj" fmla="val 6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FFFFFF"/>
                </a:solidFill>
                <a:latin typeface="Calibri"/>
              </a:rPr>
              <a:t>This isn't a concept slide — it's a product (and an AI sales team) that ran on the real LinkedIn this week.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>
                <a:solidFill>
                  <a:srgbClr val="D9731E"/>
                </a:solidFill>
                <a:latin typeface="Calibri"/>
              </a:rPr>
              <a:t>BUSINESS MODEL &amp; ECONOMICS · ILLUSTRATIVE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 dirty="0">
                <a:solidFill>
                  <a:srgbClr val="0A66C2"/>
                </a:solidFill>
                <a:latin typeface="Calibri"/>
              </a:rPr>
              <a:t>Freemium pricing, illustrative unit economics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38100"/>
          </a:xfrm>
          <a:prstGeom prst="rect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SalesTeam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66C2"/>
                </a:solidFill>
                <a:latin typeface="Calibri"/>
              </a:rPr>
              <a:t>FREE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A66C2"/>
                </a:solidFill>
                <a:latin typeface="Calibri"/>
              </a:rPr>
              <a:t>$0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7580" y="1703382"/>
            <a:ext cx="3790300" cy="1193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</a:pPr>
            <a:r>
              <a:rPr sz="1150" dirty="0">
                <a:solidFill>
                  <a:srgbClr val="0A66C2"/>
                </a:solidFill>
                <a:latin typeface="Calibri"/>
              </a:rPr>
              <a:t>•  All features included — Topics, Negative Topics, Dashboard, AI agents</a:t>
            </a:r>
          </a:p>
          <a:p>
            <a:pPr marL="177800" indent="-177800">
              <a:lnSpc>
                <a:spcPct val="108000"/>
              </a:lnSpc>
              <a:spcAft>
                <a:spcPts val="600"/>
              </a:spcAft>
            </a:pPr>
            <a:r>
              <a:rPr sz="1150" dirty="0">
                <a:solidFill>
                  <a:srgbClr val="0A66C2"/>
                </a:solidFill>
                <a:latin typeface="Calibri"/>
              </a:rPr>
              <a:t>•  Capped usage: limited scans and AI conversations per month</a:t>
            </a:r>
          </a:p>
          <a:p>
            <a:pPr marL="177800" indent="-177800">
              <a:lnSpc>
                <a:spcPct val="108000"/>
              </a:lnSpc>
              <a:spcAft>
                <a:spcPts val="600"/>
              </a:spcAft>
            </a:pPr>
            <a:r>
              <a:rPr sz="1150" dirty="0">
                <a:solidFill>
                  <a:srgbClr val="0A66C2"/>
                </a:solidFill>
                <a:latin typeface="Calibri"/>
              </a:rPr>
              <a:t>•  No credit card required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0876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645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9731E"/>
                </a:solidFill>
                <a:latin typeface="Calibri"/>
              </a:rPr>
              <a:t>PRO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20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$19/mo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1691640"/>
            <a:ext cx="3657600" cy="1001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</a:pPr>
            <a:r>
              <a:rPr sz="1150" dirty="0">
                <a:solidFill>
                  <a:srgbClr val="FFFFFF"/>
                </a:solidFill>
                <a:latin typeface="Calibri"/>
              </a:rPr>
              <a:t>•  Everything in Free, fully unlimited</a:t>
            </a:r>
          </a:p>
          <a:p>
            <a:pPr marL="177800" indent="-177800">
              <a:lnSpc>
                <a:spcPct val="108000"/>
              </a:lnSpc>
              <a:spcAft>
                <a:spcPts val="600"/>
              </a:spcAft>
            </a:pPr>
            <a:r>
              <a:rPr sz="1150" dirty="0">
                <a:solidFill>
                  <a:srgbClr val="FFFFFF"/>
                </a:solidFill>
                <a:latin typeface="Calibri"/>
              </a:rPr>
              <a:t>•  Unlimited scans, Topics, and AI conversations </a:t>
            </a:r>
            <a:br>
              <a:rPr lang="de-CH" sz="1150" dirty="0">
                <a:solidFill>
                  <a:srgbClr val="FFFFFF"/>
                </a:solidFill>
                <a:latin typeface="Calibri"/>
              </a:rPr>
            </a:br>
            <a:r>
              <a:rPr sz="1150" dirty="0">
                <a:solidFill>
                  <a:srgbClr val="FFFFFF"/>
                </a:solidFill>
                <a:latin typeface="Calibri"/>
              </a:rPr>
              <a:t>(Mentor, Customer Voice, drafting)</a:t>
            </a:r>
          </a:p>
          <a:p>
            <a:pPr marL="177800" indent="-177800">
              <a:lnSpc>
                <a:spcPct val="108000"/>
              </a:lnSpc>
              <a:spcAft>
                <a:spcPts val="600"/>
              </a:spcAft>
            </a:pPr>
            <a:r>
              <a:rPr sz="1150" dirty="0">
                <a:solidFill>
                  <a:srgbClr val="FFFFFF"/>
                </a:solidFill>
                <a:latin typeface="Calibri"/>
              </a:rPr>
              <a:t>•  Full Dashboard with AI-prioritized pipeline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20440"/>
            <a:ext cx="2057400" cy="12344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63931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H" sz="1900" b="1" i="0" dirty="0">
                <a:solidFill>
                  <a:srgbClr val="0A66C2"/>
                </a:solidFill>
                <a:latin typeface="Calibri"/>
              </a:rPr>
              <a:t>50</a:t>
            </a:r>
            <a:r>
              <a:rPr sz="1900" b="1" i="0" dirty="0">
                <a:solidFill>
                  <a:srgbClr val="0A66C2"/>
                </a:solidFill>
                <a:latin typeface="Calibri"/>
              </a:rPr>
              <a:t>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60520"/>
            <a:ext cx="1874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 dirty="0">
                <a:solidFill>
                  <a:srgbClr val="5B6066"/>
                </a:solidFill>
                <a:latin typeface="Calibri"/>
              </a:rPr>
              <a:t>Year 1 users (target)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3520440"/>
            <a:ext cx="2057400" cy="12344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0" y="363931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0A66C2"/>
                </a:solidFill>
                <a:latin typeface="Calibri"/>
              </a:rPr>
              <a:t>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4160520"/>
            <a:ext cx="1874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066"/>
                </a:solidFill>
                <a:latin typeface="Calibri"/>
              </a:rPr>
              <a:t>Free → Paid conversion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37760" y="3520440"/>
            <a:ext cx="2057400" cy="12344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37760" y="363931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H" sz="1900" b="1" i="0" dirty="0">
                <a:solidFill>
                  <a:srgbClr val="0A66C2"/>
                </a:solidFill>
                <a:latin typeface="Calibri"/>
              </a:rPr>
              <a:t>2,500</a:t>
            </a:r>
            <a:endParaRPr sz="1900" b="1" i="0" dirty="0">
              <a:solidFill>
                <a:srgbClr val="0A66C2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29200" y="4160520"/>
            <a:ext cx="1874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066"/>
                </a:solidFill>
                <a:latin typeface="Calibri"/>
              </a:rPr>
              <a:t>Paying users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0" y="3520440"/>
            <a:ext cx="2057400" cy="12344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20" y="363931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0A66C2"/>
                </a:solidFill>
                <a:latin typeface="Calibri"/>
              </a:rPr>
              <a:t>$19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160520"/>
            <a:ext cx="1874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066"/>
                </a:solidFill>
                <a:latin typeface="Calibri"/>
              </a:rPr>
              <a:t>ARPU / month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26880" y="3520440"/>
            <a:ext cx="2057400" cy="123444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26880" y="363931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0A66C2"/>
                </a:solidFill>
                <a:latin typeface="Calibri"/>
              </a:rPr>
              <a:t>~$570K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4160520"/>
            <a:ext cx="1874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066"/>
                </a:solidFill>
                <a:latin typeface="Calibri"/>
              </a:rPr>
              <a:t>Year 1 ARR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983480"/>
            <a:ext cx="10607040" cy="12344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5120640"/>
            <a:ext cx="10058400" cy="52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b="0" i="1" noProof="0" dirty="0">
                <a:solidFill>
                  <a:srgbClr val="5B6066"/>
                </a:solidFill>
                <a:latin typeface="Calibri"/>
              </a:rPr>
              <a:t>North star metric: Weekly Active Scanners. Pricing and economics above are very initial </a:t>
            </a:r>
            <a:r>
              <a:rPr lang="en-US" sz="1200" b="0" i="1" noProof="0" dirty="0" err="1">
                <a:solidFill>
                  <a:srgbClr val="5B6066"/>
                </a:solidFill>
                <a:latin typeface="Calibri"/>
              </a:rPr>
              <a:t>guestimations</a:t>
            </a:r>
            <a:r>
              <a:rPr lang="en-US" sz="1200" b="0" i="1" noProof="0" dirty="0">
                <a:solidFill>
                  <a:srgbClr val="5B6066"/>
                </a:solidFill>
                <a:latin typeface="Calibri"/>
              </a:rPr>
              <a:t> — not based on real pricing tests, real conversion data, or market research, and should not be read as a forecast.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600" b="1" dirty="0">
                <a:solidFill>
                  <a:srgbClr val="D9731E"/>
                </a:solidFill>
                <a:latin typeface="Calibri"/>
              </a:rPr>
              <a:t>WHERE IT GOES · 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A66C2"/>
                </a:solidFill>
                <a:latin typeface="Calibri"/>
              </a:rPr>
              <a:t>Roadmap and what we need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38100"/>
          </a:xfrm>
          <a:prstGeom prst="rect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SalesTeam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3429000" cy="2743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9731E"/>
                </a:solidFill>
                <a:latin typeface="Calibri"/>
              </a:rPr>
              <a:t>NOW · v0.13.2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2971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00">
                <a:solidFill>
                  <a:srgbClr val="222427"/>
                </a:solidFill>
                <a:latin typeface="Calibri"/>
              </a:rPr>
              <a:t>•  Posts + Jobs scanning, English &amp; German, auto-filtering out competitors and recruiter noise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00">
                <a:solidFill>
                  <a:srgbClr val="222427"/>
                </a:solidFill>
                <a:latin typeface="Calibri"/>
              </a:rPr>
              <a:t>•  A full pipeline Dashboard: every lead tracked, AI-scored P1–P5, safe bulk actions with undo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00">
                <a:solidFill>
                  <a:srgbClr val="222427"/>
                </a:solidFill>
                <a:latin typeface="Calibri"/>
              </a:rPr>
              <a:t>•  AI-drafted outreach, Sales Mentor &amp; Customer Voice agents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00">
                <a:solidFill>
                  <a:srgbClr val="222427"/>
                </a:solidFill>
                <a:latin typeface="Calibri"/>
              </a:rPr>
              <a:t>•  Live today via an unlisted Chrome Web Store listing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691640"/>
            <a:ext cx="3429000" cy="2743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1874519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9731E"/>
                </a:solidFill>
                <a:latin typeface="Calibri"/>
              </a:rP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331720"/>
            <a:ext cx="2971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>
                <a:solidFill>
                  <a:srgbClr val="222427"/>
                </a:solidFill>
                <a:latin typeface="Calibri"/>
              </a:rPr>
              <a:t>•  Push validated, high-priority leads straight into Salesforce or another CRM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>
                <a:solidFill>
                  <a:srgbClr val="222427"/>
                </a:solidFill>
                <a:latin typeface="Calibri"/>
              </a:rPr>
              <a:t>•  Integrating with Sales Navigator to enhance search and filtering capabilities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691640"/>
            <a:ext cx="3429000" cy="27432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92440" y="1874519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9731E"/>
                </a:solidFill>
                <a:latin typeface="Calibri"/>
              </a:rPr>
              <a:t>LATER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331720"/>
            <a:ext cx="2971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>
                <a:solidFill>
                  <a:srgbClr val="222427"/>
                </a:solidFill>
                <a:latin typeface="Calibri"/>
              </a:rPr>
              <a:t>•  Public, searchable Chrome Web Store listing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>
                <a:solidFill>
                  <a:srgbClr val="222427"/>
                </a:solidFill>
                <a:latin typeface="Calibri"/>
              </a:rPr>
              <a:t>•  Team workspaces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09160"/>
            <a:ext cx="10607040" cy="1234440"/>
          </a:xfrm>
          <a:prstGeom prst="roundRect">
            <a:avLst>
              <a:gd name="adj" fmla="val 6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822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9731E"/>
                </a:solidFill>
                <a:latin typeface="Calibri"/>
              </a:rPr>
              <a:t>THE
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8920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Feedback on this direction, and introductions to 3–5 pilot sales teams willing to alpha-test the full AI sales team — scanning, drafting, and advisors — against their real pipelines.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32720" cy="1054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 dirty="0">
                <a:solidFill>
                  <a:srgbClr val="0A66C2"/>
                </a:solidFill>
                <a:latin typeface="Calibri"/>
              </a:rPr>
              <a:t>Every LinkedIn seller deserves a</a:t>
            </a:r>
            <a:r>
              <a:rPr lang="de-CH" sz="2800" b="1" i="0" dirty="0">
                <a:solidFill>
                  <a:srgbClr val="0A66C2"/>
                </a:solidFill>
                <a:latin typeface="Calibri"/>
              </a:rPr>
              <a:t> </a:t>
            </a:r>
            <a:r>
              <a:rPr lang="de-CH" sz="2800" b="1" i="0" dirty="0" err="1">
                <a:solidFill>
                  <a:srgbClr val="0A66C2"/>
                </a:solidFill>
                <a:latin typeface="Calibri"/>
              </a:rPr>
              <a:t>whole</a:t>
            </a:r>
            <a:r>
              <a:rPr sz="2800" b="1" i="0" dirty="0">
                <a:solidFill>
                  <a:srgbClr val="0A66C2"/>
                </a:solidFill>
                <a:latin typeface="Calibri"/>
              </a:rPr>
              <a:t> AI sales team behind them — not a blank search bar.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434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222427"/>
                </a:solidFill>
                <a:latin typeface="Calibri"/>
              </a:rPr>
              <a:t>Thank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 dirty="0">
                <a:solidFill>
                  <a:srgbClr val="5B6066"/>
                </a:solidFill>
                <a:latin typeface="Calibri"/>
              </a:rPr>
              <a:t>Boaz Gruener  ·  boaz.gruener@gmail.com</a:t>
            </a:r>
          </a:p>
        </p:txBody>
      </p:sp>
      <p:sp>
        <p:nvSpPr>
          <p:cNvPr id="6" name="TextBox 4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000" b="0" i="0" noProof="0" dirty="0">
                <a:solidFill>
                  <a:srgbClr val="5B606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0A66C2"/>
                </a:solidFill>
                <a:latin typeface="Calibr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5B6066"/>
                </a:solidFill>
                <a:latin typeface="Calibri"/>
              </a:rPr>
              <a:t>Backup material — shown only if it comes up in Q&amp;A.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000" b="0" i="0" noProof="0" dirty="0">
                <a:solidFill>
                  <a:srgbClr val="5B6066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9731E"/>
                </a:solidFill>
                <a:latin typeface="Calibri"/>
              </a:rPr>
              <a:t>TWO SEGMENTS, ONE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A66C2"/>
                </a:solidFill>
                <a:latin typeface="Calibri"/>
              </a:rPr>
              <a:t>Works with or without Sales Navigator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005840" cy="38100"/>
          </a:xfrm>
          <a:prstGeom prst="rect">
            <a:avLst/>
          </a:prstGeom>
          <a:solidFill>
            <a:srgbClr val="D97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A1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66"/>
                </a:solidFill>
                <a:latin typeface="Calibri"/>
              </a:rPr>
              <a:t>SalesTeam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349240" cy="38404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A66C2"/>
                </a:solidFill>
                <a:latin typeface="Calibri"/>
              </a:rPr>
              <a:t>WITHOUT Sales Navigator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800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350">
                <a:solidFill>
                  <a:srgbClr val="222427"/>
                </a:solidFill>
                <a:latin typeface="Calibri"/>
              </a:rPr>
              <a:t>•  The core use case — works on any LinkedIn account, free or paid.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350">
                <a:solidFill>
                  <a:srgbClr val="222427"/>
                </a:solidFill>
                <a:latin typeface="Calibri"/>
              </a:rPr>
              <a:t>•  Topics become the only way to systematically surface buying-intent signals.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350">
                <a:solidFill>
                  <a:srgbClr val="222427"/>
                </a:solidFill>
                <a:latin typeface="Calibri"/>
              </a:rPr>
              <a:t>•  No added subscription cost on top of what the seller already pays (if anything).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91640"/>
            <a:ext cx="5349240" cy="384048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A66C2"/>
                </a:solidFill>
                <a:latin typeface="Calibri"/>
              </a:rPr>
              <a:t>WITH Sales Navigator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468880"/>
            <a:ext cx="4800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350">
                <a:solidFill>
                  <a:srgbClr val="222427"/>
                </a:solidFill>
                <a:latin typeface="Calibri"/>
              </a:rPr>
              <a:t>•  The same Topics engine layers on top of Sales Navigator's richer people/company filters.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350">
                <a:solidFill>
                  <a:srgbClr val="222427"/>
                </a:solidFill>
                <a:latin typeface="Calibri"/>
              </a:rPr>
              <a:t>•  Sharpens targeting instead of replacing the subscription — makes an existing spend work harder.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350">
                <a:solidFill>
                  <a:srgbClr val="222427"/>
                </a:solidFill>
                <a:latin typeface="Calibri"/>
              </a:rPr>
              <a:t>•  Roadmap: direct integration with Sales Navigator's saved searches.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2099</Words>
  <Application>Microsoft Office PowerPoint</Application>
  <PresentationFormat>Widescreen</PresentationFormat>
  <Paragraphs>255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Boaz Gruener</cp:lastModifiedBy>
  <cp:revision>2</cp:revision>
  <dcterms:created xsi:type="dcterms:W3CDTF">2013-01-27T09:14:16Z</dcterms:created>
  <dcterms:modified xsi:type="dcterms:W3CDTF">2026-09-03T07:41:58Z</dcterms:modified>
  <cp:category/>
</cp:coreProperties>
</file>