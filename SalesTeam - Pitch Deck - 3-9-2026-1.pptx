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8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az Gruener" userId="1c67ef5f16a36d74" providerId="LiveId" clId="{4A8FA069-582A-46EA-B3F2-3B6AF512A42B}"/>
    <pc:docChg chg="undo custSel modSld">
      <pc:chgData name="Boaz Gruener" userId="1c67ef5f16a36d74" providerId="LiveId" clId="{4A8FA069-582A-46EA-B3F2-3B6AF512A42B}" dt="2026-09-03T09:38:31.845" v="237" actId="20577"/>
      <pc:docMkLst>
        <pc:docMk/>
      </pc:docMkLst>
      <pc:sldChg chg="modSp mod">
        <pc:chgData name="Boaz Gruener" userId="1c67ef5f16a36d74" providerId="LiveId" clId="{4A8FA069-582A-46EA-B3F2-3B6AF512A42B}" dt="2026-09-03T07:31:54.567" v="157" actId="113"/>
        <pc:sldMkLst>
          <pc:docMk/>
          <pc:sldMk cId="0" sldId="256"/>
        </pc:sldMkLst>
        <pc:spChg chg="mod">
          <ac:chgData name="Boaz Gruener" userId="1c67ef5f16a36d74" providerId="LiveId" clId="{4A8FA069-582A-46EA-B3F2-3B6AF512A42B}" dt="2026-09-02T09:28:40.916" v="123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9:28:40.916" v="123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Boaz Gruener" userId="1c67ef5f16a36d74" providerId="LiveId" clId="{4A8FA069-582A-46EA-B3F2-3B6AF512A42B}" dt="2026-09-02T09:28:40.916" v="123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Boaz Gruener" userId="1c67ef5f16a36d74" providerId="LiveId" clId="{4A8FA069-582A-46EA-B3F2-3B6AF512A42B}" dt="2026-09-02T09:28:40.916" v="123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1:54.567" v="157" actId="113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Boaz Gruener" userId="1c67ef5f16a36d74" providerId="LiveId" clId="{4A8FA069-582A-46EA-B3F2-3B6AF512A42B}" dt="2026-09-03T07:30:28.450" v="140" actId="255"/>
        <pc:sldMkLst>
          <pc:docMk/>
          <pc:sldMk cId="0" sldId="257"/>
        </pc:sldMkLst>
        <pc:spChg chg="mod">
          <ac:chgData name="Boaz Gruener" userId="1c67ef5f16a36d74" providerId="LiveId" clId="{4A8FA069-582A-46EA-B3F2-3B6AF512A42B}" dt="2026-09-03T07:30:28.450" v="140" actId="255"/>
          <ac:spMkLst>
            <pc:docMk/>
            <pc:sldMk cId="0" sldId="257"/>
            <ac:spMk id="2" creationId="{00000000-0000-0000-0000-000000000000}"/>
          </ac:spMkLst>
        </pc:spChg>
        <pc:picChg chg="del mod">
          <ac:chgData name="Boaz Gruener" userId="1c67ef5f16a36d74" providerId="LiveId" clId="{4A8FA069-582A-46EA-B3F2-3B6AF512A42B}" dt="2026-09-02T09:30:52.904" v="132" actId="478"/>
          <ac:picMkLst>
            <pc:docMk/>
            <pc:sldMk cId="0" sldId="257"/>
            <ac:picMk id="20" creationId="{00000000-0000-0000-0000-000000000000}"/>
          </ac:picMkLst>
        </pc:picChg>
        <pc:picChg chg="add del mod">
          <ac:chgData name="Boaz Gruener" userId="1c67ef5f16a36d74" providerId="LiveId" clId="{4A8FA069-582A-46EA-B3F2-3B6AF512A42B}" dt="2026-09-02T09:32:24.736" v="133" actId="478"/>
          <ac:picMkLst>
            <pc:docMk/>
            <pc:sldMk cId="0" sldId="257"/>
            <ac:picMk id="22" creationId="{4EB42CC2-DEF4-5BC3-8A8E-188C2A309DB5}"/>
          </ac:picMkLst>
        </pc:picChg>
        <pc:picChg chg="add mod">
          <ac:chgData name="Boaz Gruener" userId="1c67ef5f16a36d74" providerId="LiveId" clId="{4A8FA069-582A-46EA-B3F2-3B6AF512A42B}" dt="2026-09-02T09:34:47.972" v="139" actId="14100"/>
          <ac:picMkLst>
            <pc:docMk/>
            <pc:sldMk cId="0" sldId="257"/>
            <ac:picMk id="24" creationId="{74FB495C-CBE8-1E0E-8C64-B0492024DAC2}"/>
          </ac:picMkLst>
        </pc:picChg>
      </pc:sldChg>
      <pc:sldChg chg="modSp mod">
        <pc:chgData name="Boaz Gruener" userId="1c67ef5f16a36d74" providerId="LiveId" clId="{4A8FA069-582A-46EA-B3F2-3B6AF512A42B}" dt="2026-09-03T07:30:34.886" v="143" actId="108"/>
        <pc:sldMkLst>
          <pc:docMk/>
          <pc:sldMk cId="0" sldId="258"/>
        </pc:sldMkLst>
        <pc:spChg chg="mod">
          <ac:chgData name="Boaz Gruener" userId="1c67ef5f16a36d74" providerId="LiveId" clId="{4A8FA069-582A-46EA-B3F2-3B6AF512A42B}" dt="2026-09-03T07:30:34.886" v="143" actId="108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0:43.942" v="144" actId="108"/>
        <pc:sldMkLst>
          <pc:docMk/>
          <pc:sldMk cId="0" sldId="259"/>
        </pc:sldMkLst>
        <pc:spChg chg="mod">
          <ac:chgData name="Boaz Gruener" userId="1c67ef5f16a36d74" providerId="LiveId" clId="{4A8FA069-582A-46EA-B3F2-3B6AF512A42B}" dt="2026-09-03T07:30:43.942" v="144" actId="108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0:56.693" v="149" actId="108"/>
        <pc:sldMkLst>
          <pc:docMk/>
          <pc:sldMk cId="0" sldId="260"/>
        </pc:sldMkLst>
        <pc:spChg chg="mod">
          <ac:chgData name="Boaz Gruener" userId="1c67ef5f16a36d74" providerId="LiveId" clId="{4A8FA069-582A-46EA-B3F2-3B6AF512A42B}" dt="2026-09-03T07:30:56.693" v="149" actId="108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00.777" v="150" actId="108"/>
        <pc:sldMkLst>
          <pc:docMk/>
          <pc:sldMk cId="0" sldId="261"/>
        </pc:sldMkLst>
        <pc:spChg chg="mod">
          <ac:chgData name="Boaz Gruener" userId="1c67ef5f16a36d74" providerId="LiveId" clId="{4A8FA069-582A-46EA-B3F2-3B6AF512A42B}" dt="2026-09-03T07:31:00.777" v="150" actId="108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05.289" v="151" actId="108"/>
        <pc:sldMkLst>
          <pc:docMk/>
          <pc:sldMk cId="0" sldId="263"/>
        </pc:sldMkLst>
        <pc:spChg chg="mod">
          <ac:chgData name="Boaz Gruener" userId="1c67ef5f16a36d74" providerId="LiveId" clId="{4A8FA069-582A-46EA-B3F2-3B6AF512A42B}" dt="2026-09-03T07:31:05.289" v="151" actId="108"/>
          <ac:spMkLst>
            <pc:docMk/>
            <pc:sldMk cId="0" sldId="263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53:16.213" v="112" actId="20577"/>
          <ac:spMkLst>
            <pc:docMk/>
            <pc:sldMk cId="0" sldId="263"/>
            <ac:spMk id="18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11.856" v="152" actId="108"/>
        <pc:sldMkLst>
          <pc:docMk/>
          <pc:sldMk cId="0" sldId="264"/>
        </pc:sldMkLst>
        <pc:spChg chg="mod">
          <ac:chgData name="Boaz Gruener" userId="1c67ef5f16a36d74" providerId="LiveId" clId="{4A8FA069-582A-46EA-B3F2-3B6AF512A42B}" dt="2026-09-03T07:31:11.856" v="152" actId="108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16.591" v="153" actId="108"/>
        <pc:sldMkLst>
          <pc:docMk/>
          <pc:sldMk cId="0" sldId="265"/>
        </pc:sldMkLst>
        <pc:spChg chg="mod">
          <ac:chgData name="Boaz Gruener" userId="1c67ef5f16a36d74" providerId="LiveId" clId="{4A8FA069-582A-46EA-B3F2-3B6AF512A42B}" dt="2026-09-03T07:31:16.591" v="153" actId="108"/>
          <ac:spMkLst>
            <pc:docMk/>
            <pc:sldMk cId="0" sldId="265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9:15.098" v="26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9:38:31.845" v="237" actId="20577"/>
        <pc:sldMkLst>
          <pc:docMk/>
          <pc:sldMk cId="0" sldId="266"/>
        </pc:sldMkLst>
        <pc:spChg chg="mod">
          <ac:chgData name="Boaz Gruener" userId="1c67ef5f16a36d74" providerId="LiveId" clId="{4A8FA069-582A-46EA-B3F2-3B6AF512A42B}" dt="2026-09-02T08:27:27.829" v="122" actId="403"/>
          <ac:spMkLst>
            <pc:docMk/>
            <pc:sldMk cId="0" sldId="266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4:19.353" v="170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4:30.599" v="171" actId="2057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7:16.232" v="183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7:14.899" v="181" actId="20577"/>
          <ac:spMkLst>
            <pc:docMk/>
            <pc:sldMk cId="0" sldId="266"/>
            <ac:spMk id="22" creationId="{00000000-0000-0000-0000-000000000000}"/>
          </ac:spMkLst>
        </pc:spChg>
        <pc:spChg chg="mod">
          <ac:chgData name="Boaz Gruener" userId="1c67ef5f16a36d74" providerId="LiveId" clId="{4A8FA069-582A-46EA-B3F2-3B6AF512A42B}" dt="2026-09-03T08:22:59.641" v="213" actId="20577"/>
          <ac:spMkLst>
            <pc:docMk/>
            <pc:sldMk cId="0" sldId="266"/>
            <ac:spMk id="28" creationId="{00000000-0000-0000-0000-000000000000}"/>
          </ac:spMkLst>
        </pc:spChg>
        <pc:spChg chg="mod">
          <ac:chgData name="Boaz Gruener" userId="1c67ef5f16a36d74" providerId="LiveId" clId="{4A8FA069-582A-46EA-B3F2-3B6AF512A42B}" dt="2026-09-03T09:38:31.845" v="237" actId="20577"/>
          <ac:spMkLst>
            <pc:docMk/>
            <pc:sldMk cId="0" sldId="266"/>
            <ac:spMk id="31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23.696" v="154" actId="108"/>
        <pc:sldMkLst>
          <pc:docMk/>
          <pc:sldMk cId="0" sldId="267"/>
        </pc:sldMkLst>
        <pc:spChg chg="mod">
          <ac:chgData name="Boaz Gruener" userId="1c67ef5f16a36d74" providerId="LiveId" clId="{4A8FA069-582A-46EA-B3F2-3B6AF512A42B}" dt="2026-09-03T07:31:23.696" v="154" actId="108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36.961" v="155" actId="403"/>
        <pc:sldMkLst>
          <pc:docMk/>
          <pc:sldMk cId="0" sldId="268"/>
        </pc:sldMkLst>
        <pc:spChg chg="mod">
          <ac:chgData name="Boaz Gruener" userId="1c67ef5f16a36d74" providerId="LiveId" clId="{4A8FA069-582A-46EA-B3F2-3B6AF512A42B}" dt="2026-09-02T08:08:29.527" v="120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1:36.961" v="155" actId="403"/>
          <ac:spMkLst>
            <pc:docMk/>
            <pc:sldMk cId="0" sldId="268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6000" b="1" i="0" noProof="0" dirty="0" err="1">
                <a:solidFill>
                  <a:srgbClr val="0A66C2"/>
                </a:solidFill>
                <a:latin typeface="Calibri"/>
              </a:rPr>
              <a:t>SalesTeam</a:t>
            </a:r>
            <a:endParaRPr lang="en-US" sz="6000" b="1" i="0" noProof="0" dirty="0">
              <a:solidFill>
                <a:srgbClr val="0A66C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200" b="0" i="1" noProof="0" dirty="0">
                <a:solidFill>
                  <a:srgbClr val="222427"/>
                </a:solidFill>
                <a:latin typeface="Calibri"/>
              </a:rPr>
              <a:t>Your AI sales team, right inside LinkedIn.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3380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5B6066"/>
                </a:solidFill>
                <a:latin typeface="Calibri"/>
              </a:rPr>
              <a:t>A sophisticated Leads Generator, backed by a growing team of AI agents — a Sales Assistant, a Sales Mentor, and a Customer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8076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i="0" noProof="0" dirty="0">
                <a:solidFill>
                  <a:srgbClr val="5B6066"/>
                </a:solidFill>
                <a:latin typeface="Calibri"/>
              </a:rPr>
              <a:t>September 2nd 2026  ·  Presented by Boaz Gruener  ·  AI Product Management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noProof="0" dirty="0">
                <a:solidFill>
                  <a:srgbClr val="D9731E"/>
                </a:solidFill>
                <a:latin typeface="Calibri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900" b="1" i="0" noProof="0" dirty="0">
                <a:solidFill>
                  <a:srgbClr val="0A66C2"/>
                </a:solidFill>
                <a:latin typeface="Calibri"/>
              </a:rPr>
              <a:t>Meet Elena, B2B Software &amp; Services Sales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noProof="0" dirty="0" err="1">
                <a:solidFill>
                  <a:srgbClr val="5B6066"/>
                </a:solidFill>
                <a:latin typeface="Calibri"/>
              </a:rPr>
              <a:t>SalesTeam</a:t>
            </a:r>
            <a:endParaRPr lang="en-US" sz="1000" b="0" i="0" noProof="0" dirty="0">
              <a:solidFill>
                <a:srgbClr val="5B606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9235440" cy="55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350" b="0" i="1" noProof="0" dirty="0">
                <a:solidFill>
                  <a:srgbClr val="5B6066"/>
                </a:solidFill>
                <a:latin typeface="Calibri"/>
              </a:rPr>
              <a:t>Sells enterprise software &amp; AI-driven services in a competitive B2B market. </a:t>
            </a:r>
            <a:br>
              <a:rPr lang="en-US" sz="1350" b="0" i="1" noProof="0" dirty="0">
                <a:solidFill>
                  <a:srgbClr val="5B6066"/>
                </a:solidFill>
                <a:latin typeface="Calibri"/>
              </a:rPr>
            </a:br>
            <a:r>
              <a:rPr lang="en-US" sz="1350" b="0" i="1" noProof="0" dirty="0">
                <a:solidFill>
                  <a:srgbClr val="5B6066"/>
                </a:solidFill>
                <a:latin typeface="Calibri"/>
              </a:rPr>
              <a:t>Hits quota by finding companies actively signaling a need — not by cold-calling blind.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“I know the leads are out there somewhere on LinkedIn.”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“I don't have hours to scroll every morning.”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4048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THINKS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4892040" cy="101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“Did I miss the perfect post because I searched the wrong week or using the wrong keywords?”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“Sales Navigator finds people — not the moment they're ready to buy.”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45994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Runs the same 5 keyword searches by hand, morning after morning.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Skims hundreds of results by eye, one tab at 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4348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400800" y="45994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FEELS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3776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Behind, every day it isn't done.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Relieved on the rare day she finds a great lead early.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4FB495C-CBE8-1E0E-8C64-B0492024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398" y="39243"/>
            <a:ext cx="1876399" cy="2210181"/>
          </a:xfrm>
          <a:prstGeom prst="ellipse">
            <a:avLst/>
          </a:prstGeom>
          <a:ln w="1905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D9731E"/>
                </a:solidFill>
                <a:latin typeface="Calibri"/>
              </a:rPr>
              <a:t>THE PROBLEM &amp;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900" b="1" i="0" noProof="0" dirty="0">
                <a:solidFill>
                  <a:srgbClr val="0A66C2"/>
                </a:solidFill>
                <a:latin typeface="Calibri"/>
              </a:rPr>
              <a:t>Lead generation eats the day — and the gap is widening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noProof="0" dirty="0" err="1">
                <a:solidFill>
                  <a:srgbClr val="5B6066"/>
                </a:solidFill>
                <a:latin typeface="Calibri"/>
              </a:rPr>
              <a:t>SalesTeam</a:t>
            </a:r>
            <a:endParaRPr lang="en-US" sz="1000" b="0" i="0" noProof="0" dirty="0">
              <a:solidFill>
                <a:srgbClr val="5B606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D9731E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66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Repetitive manual work.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Finding buying-intent signals means running the same keyword searches by hand, across Posts and Jobs, every day.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Wrong tool, wrong job.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Sales Navigator and enrichment tools find contact info for a name you already have — not who's signaling a need right now.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The cost.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Hours lost weekly to manual searching — or leads simply missed.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002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D9731E"/>
                </a:solidFill>
                <a:latin typeface="Calibri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965960"/>
            <a:ext cx="5166360" cy="228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More noise.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LinkedIn is bigger and busier than ever — more signal buried under more scroll.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Riskier shortcuts.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Automation tools like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Waalaxy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Expandi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 and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Dripify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 saw a wave of account restrictions in Jan–Mar 2026, due to abuse of LinkedIn policies.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The platform caught up.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Manifest V3, Chrome's side panel, and Claude's tool-use API make a careful, reasoning-backed assistant possible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058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“Generate sales leads on LinkedIn </a:t>
            </a:r>
            <a:r>
              <a:rPr lang="en-US" sz="1450" b="1" i="1" noProof="0" dirty="0">
                <a:solidFill>
                  <a:srgbClr val="0A66C2"/>
                </a:solidFill>
                <a:latin typeface="Calibri"/>
              </a:rPr>
              <a:t>without spending hours on repetitive manual searches </a:t>
            </a: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— and </a:t>
            </a:r>
            <a:r>
              <a:rPr lang="en-US" sz="1450" b="1" i="1" noProof="0" dirty="0">
                <a:solidFill>
                  <a:srgbClr val="0A66C2"/>
                </a:solidFill>
                <a:latin typeface="Calibri"/>
              </a:rPr>
              <a:t>without investing in expensive, complicated sales tools</a:t>
            </a: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66C2"/>
                </a:solidFill>
                <a:latin typeface="Calibri"/>
              </a:rPr>
              <a:t>Not just a leads generator — an AI sales team in your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607040" cy="7772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 dirty="0">
                <a:solidFill>
                  <a:srgbClr val="FFFFFF"/>
                </a:solidFill>
                <a:latin typeface="Calibri"/>
              </a:rPr>
              <a:t>An easy-to-use browser-embedded tool that performs smart, automated searches with custom targeting via keywords and filters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,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while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empowered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by an AI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agents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sales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team</a:t>
            </a:r>
            <a:r>
              <a:rPr sz="1500" b="0" i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Topics. </a:t>
            </a:r>
            <a:r>
              <a:rPr sz="1450">
                <a:solidFill>
                  <a:srgbClr val="222427"/>
                </a:solidFill>
                <a:latin typeface="Calibri"/>
              </a:rPr>
              <a:t>Define reusable keyword groups, with an optional second “AND with” condition.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One click. </a:t>
            </a:r>
            <a:r>
              <a:rPr sz="1450">
                <a:solidFill>
                  <a:srgbClr val="222427"/>
                </a:solidFill>
                <a:latin typeface="Calibri"/>
              </a:rPr>
              <a:t>“Scan All Topics” searches every Topic across both LinkedIn Posts and Jobs.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One ranked list. </a:t>
            </a:r>
            <a:r>
              <a:rPr sz="1450">
                <a:solidFill>
                  <a:srgbClr val="222427"/>
                </a:solidFill>
                <a:latin typeface="Calibri"/>
              </a:rPr>
              <a:t>Results are merged, deduplicated and ranked — tagged with matched keywords, hiring/freelance signals, and job-ad detection. Competitors and recruiter noise are auto-filtered out, not just left for you to skip past.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Safe by design. </a:t>
            </a:r>
            <a:r>
              <a:rPr sz="1450">
                <a:solidFill>
                  <a:srgbClr val="222427"/>
                </a:solidFill>
                <a:latin typeface="Calibri"/>
              </a:rPr>
              <a:t>100% manual-trigger. Nothing runs unattended, so it stays on the safe side of LinkedIn's policies.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An AI sales team on top. </a:t>
            </a:r>
            <a:r>
              <a:rPr sz="1450">
                <a:solidFill>
                  <a:srgbClr val="222427"/>
                </a:solidFill>
                <a:latin typeface="Calibri"/>
              </a:rPr>
              <a:t>Specialist agents that prioritize leads, draft outreach, and pressure-test your message — detailed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THE AI SALES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66C2"/>
                </a:solidFill>
                <a:latin typeface="Calibri"/>
              </a:rPr>
              <a:t>A growing team of specialist agents, on call 24/7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SALES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Full pipeline agent — lead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71800" cy="14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Scans Posts + Jobs, auto-filters out competitors and recruiter noise, and tracks every lead's status end to end.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Gives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priority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to</a:t>
            </a:r>
            <a:r>
              <a:rPr sz="1200" dirty="0">
                <a:solidFill>
                  <a:srgbClr val="222427"/>
                </a:solidFill>
                <a:latin typeface="Calibri"/>
              </a:rPr>
              <a:t> each new lead P1–P5 by real fit and urgency after every scan — so nothing falls through the cracks.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SALES 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AI Agent · 25 years of experience.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60"/>
            <a:ext cx="2971800" cy="14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Ask which leads to prioritize, how to approach one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drafts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an optimal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message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to the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lead’s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contact</a:t>
            </a:r>
            <a:endParaRPr lang="de-CH" sz="1200" dirty="0">
              <a:solidFill>
                <a:srgbClr val="222427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Acts as a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strategic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advisor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– as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any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question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on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sales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strategy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target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segments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sales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process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and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more</a:t>
            </a:r>
            <a:endParaRPr sz="1200" dirty="0">
              <a:solidFill>
                <a:srgbClr val="222427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638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CUSTOMER 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AI Agent · realistic buyer persona.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5176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Bounce a sales pitch or message off it before it ever reaches a real lead.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Ask it about needs, pains, or how it prefers to be approached — an open-ended interview, not a fixed script.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058400" cy="7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CH" sz="1300" i="1" dirty="0">
                <a:solidFill>
                  <a:srgbClr val="FFFFFF"/>
                </a:solidFill>
                <a:latin typeface="Calibri"/>
              </a:rPr>
              <a:t>E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ach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agent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just gets a different persona and a different set of tools it can call on its own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(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from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a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share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set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of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tools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)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. </a:t>
            </a:r>
            <a:endParaRPr lang="de-CH" sz="1300" b="0" i="1" dirty="0">
              <a:solidFill>
                <a:srgbClr val="FFFFFF"/>
              </a:solidFill>
              <a:latin typeface="Calibri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300" b="0" i="1" dirty="0">
                <a:solidFill>
                  <a:srgbClr val="FFFFFF"/>
                </a:solidFill>
                <a:latin typeface="Calibri"/>
              </a:rPr>
              <a:t>That's genuine agentic AI: the model decides what it needs to look up, not a scripted chatbot. </a:t>
            </a:r>
            <a:endParaRPr lang="de-CH" sz="1300" b="0" i="1" dirty="0">
              <a:solidFill>
                <a:srgbClr val="FFFFFF"/>
              </a:solidFill>
              <a:latin typeface="Calibri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300" b="0" i="1" dirty="0">
                <a:solidFill>
                  <a:srgbClr val="FFFFFF"/>
                </a:solidFill>
                <a:latin typeface="Calibri"/>
              </a:rPr>
              <a:t>More specialist agents join the team as new needs surface.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A66C2"/>
                </a:solidFill>
                <a:latin typeface="Calibri"/>
              </a:rPr>
              <a:t>See it live 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Define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What to find (e.g. “AI Transformation”) and what to auto-filter out (competitors, recruiters).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7180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Click “Scan All Topics”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Searches Posts + Jobs, filters the noise, then scores every new lead P1–P5.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1208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Open the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One sortable, filterable pipeline — highest-priority leads on top, low-priority hidden by default.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5236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Ask Sales Mentor for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“Which lead should I approach first?” — grounded in your real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Ask Sales Mentor to draft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Turns its own recommendation into a ready-to-send opening 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066"/>
                </a:solidFill>
                <a:latin typeface="Calibri"/>
              </a:rPr>
              <a:t>(Switch to the extension's side panel now for the live walkthrough.)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Runs inside your own LinkedIn session — architecture underneath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6070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Native browser extension.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Chrome/Edge, Manifest V3, in the side panel next to LinkedIn.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Simulates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a human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searching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in LinkedIn –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stays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compliant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with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the LinkedIn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policies</a:t>
            </a:r>
            <a:endParaRPr lang="de-CH" sz="1100" b="1" dirty="0">
              <a:solidFill>
                <a:srgbClr val="222427"/>
              </a:solidFill>
              <a:latin typeface="Calibri"/>
            </a:endParaRP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Adaptive query-chunking.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Works around LinkedIn's undocumented search-complexity limits automatically.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Agents call tools, not scripts.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Claude decides, mid-conversation, when to fetch real lead data.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Your data stays yours.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Only the AI features send lead text to Anthropic, using your own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42836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5342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6066"/>
                </a:solidFill>
                <a:latin typeface="Calibri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6884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B6066"/>
                </a:solidFill>
                <a:latin typeface="Calibri"/>
              </a:rPr>
              <a:t>Third-party · Posts &amp; Jobs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031356"/>
            <a:ext cx="2788920" cy="1188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312279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Side Panel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41540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Topics, Negative
Topics, scan 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3031356"/>
            <a:ext cx="2788920" cy="1188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312279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Background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1540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plans searches,
drives the scan tab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4448676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06440" y="45401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Content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8327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reads LinkedIn's
rendered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4448676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45401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427"/>
                </a:solidFill>
                <a:latin typeface="Calibri"/>
              </a:rPr>
              <a:t>Local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327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222427"/>
                </a:solidFill>
                <a:latin typeface="Calibri"/>
              </a:rPr>
              <a:t>Browser API · on this device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3442836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353427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6066"/>
                </a:solidFill>
                <a:latin typeface="Calibri"/>
              </a:rPr>
              <a:t>Anthropic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826884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B6066"/>
                </a:solidFill>
                <a:latin typeface="Calibri"/>
              </a:rPr>
              <a:t>Third-party · drafts + agents,
your own key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286000" y="3625716"/>
            <a:ext cx="502920" cy="13716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48840" y="39457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navigate /
scrape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577840" y="3625716"/>
            <a:ext cx="2286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20640" y="3698868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5B6066"/>
                </a:solidFill>
                <a:latin typeface="Calibri"/>
              </a:rPr>
              <a:t>scan
request /
progress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96328" y="422007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0" y="424750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scraped leads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78808" y="422007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331720" y="4247507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settings + results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77840" y="4905876"/>
            <a:ext cx="2286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20640" y="49790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5B6066"/>
                </a:solidFill>
                <a:latin typeface="Calibri"/>
              </a:rPr>
              <a:t>reads /
writes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183380" y="280275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83380" y="2802756"/>
            <a:ext cx="61722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55580" y="2802756"/>
            <a:ext cx="0" cy="64008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120640" y="2449752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prompt + tools →   ← draft / tool 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36961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 dirty="0">
                <a:solidFill>
                  <a:srgbClr val="5B6066"/>
                </a:solidFill>
                <a:latin typeface="Calibri"/>
              </a:rPr>
              <a:t>No server of our own — everything above runs on your device or a third-party API you already trust. Three more pages now share this same local data: a Dashboard (pipeline + AI prioritization), Advisors, and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Grounded in real market data, not invented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TAM  —  $4.85B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~8M B2B sellers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854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Global sales intelligence software market, 2025  ·  Sourced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SAM  —  ~$730M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009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~1.2M individual / SMB 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Our estimate: ~15% of TAM — the slice without a full enterprise sales-intelligence budget  ·  Our estimate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SOM  —  ~$146M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725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~240K potential buyers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663440" cy="23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 dirty="0">
                <a:solidFill>
                  <a:srgbClr val="FFFFFF"/>
                </a:solidFill>
                <a:latin typeface="Calibri"/>
              </a:rPr>
              <a:t>Our estimate: ~20% of SAM — realistically reachable over several years, not a year-1 target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66C2"/>
                </a:solidFill>
                <a:latin typeface="Calibri"/>
              </a:rPr>
              <a:t>TAM growth, 2025–2030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28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066"/>
                </a:solidFill>
                <a:latin typeface="Calibri"/>
              </a:rPr>
              <a:t>11.10% CAGR · Fortune Business 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3531661"/>
            <a:ext cx="621792" cy="1543259"/>
          </a:xfrm>
          <a:prstGeom prst="roundRect">
            <a:avLst>
              <a:gd name="adj" fmla="val 12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3275629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$4.85B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366198"/>
            <a:ext cx="621792" cy="1708722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3110166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$5.37B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3175280"/>
            <a:ext cx="621792" cy="1899640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37576" y="2919248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$5.97B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97112" y="2965269"/>
            <a:ext cx="621792" cy="2109651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05672" y="2709237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$6.63B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65208" y="2729803"/>
            <a:ext cx="621792" cy="2345117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73768" y="2473771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$7.37B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33304" y="2468880"/>
            <a:ext cx="621792" cy="2606040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41864" y="2212848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$8.19B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1864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74243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5B6066"/>
                </a:solidFill>
                <a:latin typeface="Calibri"/>
              </a:rPr>
              <a:t>Sources: TAM and 5-year projection (11.10% CAGR) from Fortune Business Insights' Sales Intelligence Market report. Buyer counts extrapolated from U.S. Bureau/industry data (~2.5–3M B2B sellers in the U.S.) scaled to a global estimate — not an independently sourced global figure. SAM and SOM buyer counts and market size are our own estimates.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Everyone solves a slice. We watch the signal — and coach the play.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928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Runs in your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Finds intent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signals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outreach-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automation risk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sales team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 support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Sales Navigator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$99.99/mo/seat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Contact enrichment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(Apollo, Lusha, Kaspr, ZoomInfo)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$39–166/mo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Outreach automation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(Waalaxy, PhantomBuster, Dux-Soup...)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$30–120/mo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Manual browsing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66C2"/>
                          </a:solidFill>
                          <a:latin typeface="Calibri"/>
                        </a:rPr>
                        <a:t>SalesTeam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66C2"/>
                          </a:solidFill>
                          <a:latin typeface="Calibri"/>
                        </a:rPr>
                        <a:t>Free – $19/mo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6636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● = partial   ✗ = no. ~40% of accounts on flagged automation tools were restricted in a single quarter (Jan–Mar 2026). No competitor offers an AI sales team backing up the seller.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EARLY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A66C2"/>
                </a:solidFill>
                <a:latin typeface="Calibri"/>
              </a:rPr>
              <a:t>A working alpha, not a mockup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607040" cy="2016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dirty="0">
                <a:solidFill>
                  <a:srgbClr val="222427"/>
                </a:solidFill>
                <a:latin typeface="Calibri"/>
              </a:rPr>
              <a:t>•  Shipped. </a:t>
            </a:r>
            <a:r>
              <a:rPr sz="1400" dirty="0">
                <a:solidFill>
                  <a:srgbClr val="222427"/>
                </a:solidFill>
                <a:latin typeface="Calibri"/>
              </a:rPr>
              <a:t>v0.6 built and running today — Posts + Jobs scanning (English &amp; German), AI-drafted outreach, and working AI agents: Sales Mentor and Customer Voice, with the Sales Assistant's own agent capabilities next.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dirty="0">
                <a:solidFill>
                  <a:srgbClr val="222427"/>
                </a:solidFill>
                <a:latin typeface="Calibri"/>
              </a:rPr>
              <a:t>•  Proven at scale, live. </a:t>
            </a:r>
            <a:r>
              <a:rPr sz="1400" dirty="0">
                <a:solidFill>
                  <a:srgbClr val="222427"/>
                </a:solidFill>
                <a:latin typeface="Calibri"/>
              </a:rPr>
              <a:t>After a real optimization pass, one batch scan surfaced 75 ranked leads across Posts and Jobs </a:t>
            </a:r>
            <a:r>
              <a:rPr lang="de-CH" sz="1400" dirty="0">
                <a:solidFill>
                  <a:srgbClr val="222427"/>
                </a:solidFill>
                <a:latin typeface="Calibri"/>
              </a:rPr>
              <a:t> </a:t>
            </a:r>
            <a:endParaRPr sz="1400" dirty="0">
              <a:solidFill>
                <a:srgbClr val="222427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dirty="0">
                <a:solidFill>
                  <a:srgbClr val="222427"/>
                </a:solidFill>
                <a:latin typeface="Calibri"/>
              </a:rPr>
              <a:t>•  Real agent conversations, not mockups. </a:t>
            </a:r>
            <a:r>
              <a:rPr sz="1400" dirty="0">
                <a:solidFill>
                  <a:srgbClr val="222427"/>
                </a:solidFill>
                <a:latin typeface="Calibri"/>
              </a:rPr>
              <a:t>Sales Mentor and Customer Voice already hold real tool-calling conversations grounded in </a:t>
            </a:r>
            <a:r>
              <a:rPr lang="de-CH" sz="1400" dirty="0" err="1">
                <a:solidFill>
                  <a:srgbClr val="222427"/>
                </a:solidFill>
                <a:latin typeface="Calibri"/>
              </a:rPr>
              <a:t>market</a:t>
            </a:r>
            <a:r>
              <a:rPr lang="de-CH" sz="14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400" dirty="0" err="1">
                <a:solidFill>
                  <a:srgbClr val="222427"/>
                </a:solidFill>
                <a:latin typeface="Calibri"/>
              </a:rPr>
              <a:t>knowledge</a:t>
            </a:r>
            <a:r>
              <a:rPr lang="de-CH" sz="1400" dirty="0">
                <a:solidFill>
                  <a:srgbClr val="222427"/>
                </a:solidFill>
                <a:latin typeface="Calibri"/>
              </a:rPr>
              <a:t> and</a:t>
            </a:r>
            <a:r>
              <a:rPr sz="1400" dirty="0">
                <a:solidFill>
                  <a:srgbClr val="222427"/>
                </a:solidFill>
                <a:latin typeface="Calibri"/>
              </a:rPr>
              <a:t> lead data.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dirty="0">
                <a:solidFill>
                  <a:srgbClr val="222427"/>
                </a:solidFill>
                <a:latin typeface="Calibri"/>
              </a:rPr>
              <a:t>•  </a:t>
            </a:r>
            <a:r>
              <a:rPr lang="de-CH" sz="1400" b="1" dirty="0">
                <a:solidFill>
                  <a:srgbClr val="222427"/>
                </a:solidFill>
                <a:latin typeface="Calibri"/>
              </a:rPr>
              <a:t>R</a:t>
            </a:r>
            <a:r>
              <a:rPr sz="1400" b="1" dirty="0" err="1">
                <a:solidFill>
                  <a:srgbClr val="222427"/>
                </a:solidFill>
                <a:latin typeface="Calibri"/>
              </a:rPr>
              <a:t>eal</a:t>
            </a:r>
            <a:r>
              <a:rPr sz="1400" b="1" dirty="0">
                <a:solidFill>
                  <a:srgbClr val="222427"/>
                </a:solidFill>
                <a:latin typeface="Calibri"/>
              </a:rPr>
              <a:t> feedback. </a:t>
            </a:r>
            <a:r>
              <a:rPr sz="1400" dirty="0">
                <a:solidFill>
                  <a:srgbClr val="222427"/>
                </a:solidFill>
                <a:latin typeface="Calibri"/>
              </a:rPr>
              <a:t>In active use by a real sales team lead — whose real usage has already surfaced and fixed genuine reliability bugs.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This isn't a concept slide — it's a product (and an AI sales team) that ran on the real LinkedIn this 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D9731E"/>
                </a:solidFill>
                <a:latin typeface="Calibri"/>
              </a:rPr>
              <a:t>BUSINESS MODEL &amp; ECONOMICS · ILLUSTRATIVE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 dirty="0">
                <a:solidFill>
                  <a:srgbClr val="0A66C2"/>
                </a:solidFill>
                <a:latin typeface="Calibri"/>
              </a:rPr>
              <a:t>Freemium pricing, illustrative 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66C2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A66C2"/>
                </a:solidFill>
                <a:latin typeface="Calibri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7580" y="1703382"/>
            <a:ext cx="3790300" cy="119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0A66C2"/>
                </a:solidFill>
                <a:latin typeface="Calibri"/>
              </a:rPr>
              <a:t>•  All features included — Topics, Negative Topics, Dashboard, AI agents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0A66C2"/>
                </a:solidFill>
                <a:latin typeface="Calibri"/>
              </a:rPr>
              <a:t>•  Capped usage: limited scans and AI conversations per month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0A66C2"/>
                </a:solidFill>
                <a:latin typeface="Calibri"/>
              </a:rPr>
              <a:t>•  No credit card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$19/mo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691640"/>
            <a:ext cx="3657600" cy="100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FFFFFF"/>
                </a:solidFill>
                <a:latin typeface="Calibri"/>
              </a:rPr>
              <a:t>•  Everything in Free, fully unlimited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FFFFFF"/>
                </a:solidFill>
                <a:latin typeface="Calibri"/>
              </a:rPr>
              <a:t>•  Unlimited scans, Topics, and AI conversations </a:t>
            </a:r>
            <a:br>
              <a:rPr lang="de-CH" sz="1150" dirty="0">
                <a:solidFill>
                  <a:srgbClr val="FFFFFF"/>
                </a:solidFill>
                <a:latin typeface="Calibri"/>
              </a:rPr>
            </a:br>
            <a:r>
              <a:rPr sz="1150" dirty="0">
                <a:solidFill>
                  <a:srgbClr val="FFFFFF"/>
                </a:solidFill>
                <a:latin typeface="Calibri"/>
              </a:rPr>
              <a:t>(Mentor, Customer Voice, drafting)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FFFFFF"/>
                </a:solidFill>
                <a:latin typeface="Calibri"/>
              </a:rPr>
              <a:t>•  Full Dashboard with AI-prioritized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900" b="1" i="0" dirty="0">
                <a:solidFill>
                  <a:srgbClr val="0A66C2"/>
                </a:solidFill>
                <a:latin typeface="Calibri"/>
              </a:rPr>
              <a:t>50</a:t>
            </a:r>
            <a:r>
              <a:rPr sz="1900" b="1" i="0" dirty="0">
                <a:solidFill>
                  <a:srgbClr val="0A66C2"/>
                </a:solidFill>
                <a:latin typeface="Calibri"/>
              </a:rPr>
              <a:t>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 dirty="0">
                <a:solidFill>
                  <a:srgbClr val="5B6066"/>
                </a:solidFill>
                <a:latin typeface="Calibri"/>
              </a:rPr>
              <a:t>Year 1 users (target)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Free → Paid conversion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900" b="1" i="0" dirty="0">
                <a:solidFill>
                  <a:srgbClr val="0A66C2"/>
                </a:solidFill>
                <a:latin typeface="Calibri"/>
              </a:rPr>
              <a:t>2,500</a:t>
            </a:r>
            <a:endParaRPr sz="1900" b="1" i="0" dirty="0">
              <a:solidFill>
                <a:srgbClr val="0A66C2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Paying 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$19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ARPU / month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3611880"/>
            <a:ext cx="20574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0A66C2"/>
                </a:solidFill>
                <a:latin typeface="Calibri"/>
              </a:rPr>
              <a:t>~$253K</a:t>
            </a:r>
          </a:p>
          <a:p>
            <a:pPr algn="ctr"/>
            <a:r>
              <a:rPr sz="950" b="1" dirty="0">
                <a:solidFill>
                  <a:srgbClr val="5B6066"/>
                </a:solidFill>
                <a:latin typeface="Calibri"/>
              </a:rPr>
              <a:t>($570K exit ARR)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31596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Accumulated Year 1 Revenue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8348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120640"/>
            <a:ext cx="10058400" cy="742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1" noProof="0" dirty="0">
                <a:solidFill>
                  <a:srgbClr val="5B6066"/>
                </a:solidFill>
                <a:latin typeface="Calibri"/>
              </a:rPr>
              <a:t>North star metric: Weekly Active Scanners. Accumulated Year 1 Revenue assumes an S-curve ramp to 2,500 paying users by month 12 (each prior month = next month ÷ 1.2, i.e. 20% month-over-month growth) - not a flat 2,500 all year. Pricing and economics above are initial estimations - not based on real pricing tests, real conversion data, or market research, and should not be read as a forecast.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WHERE IT GOES ·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66C2"/>
                </a:solidFill>
                <a:latin typeface="Calibri"/>
              </a:rPr>
              <a:t>Roadmap and what we need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NOW · v0.13.2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222427"/>
                </a:solidFill>
                <a:latin typeface="Calibri"/>
              </a:rPr>
              <a:t>•  Posts + Jobs scanning, English &amp; German, auto-filtering out competitors and recruiter noise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222427"/>
                </a:solidFill>
                <a:latin typeface="Calibri"/>
              </a:rPr>
              <a:t>•  A full pipeline Dashboard: every lead tracked, AI-scored P1–P5, safe bulk actions with undo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222427"/>
                </a:solidFill>
                <a:latin typeface="Calibri"/>
              </a:rPr>
              <a:t>•  AI-drafted outreach, Sales Mentor &amp; Customer Voice agents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222427"/>
                </a:solidFill>
                <a:latin typeface="Calibri"/>
              </a:rPr>
              <a:t>•  Live today via an unlisted Chrome Web Store listing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9164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Push validated, high-priority leads straight into Salesforce or another CRM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Integrating with Sales Navigator to enhance search and filtering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9164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Public, searchable Chrome Web Store listing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Team workspaces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THE
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892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Feedback on this direction, and introductions to 3–5 pilot sales teams willing to alpha-test the full AI sales team — scanning, drafting, and advisors — against their real pipelines.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dirty="0">
                <a:solidFill>
                  <a:srgbClr val="0A66C2"/>
                </a:solidFill>
                <a:latin typeface="Calibri"/>
              </a:rPr>
              <a:t>Every LinkedIn seller deserves a</a:t>
            </a:r>
            <a:r>
              <a:rPr lang="de-CH" sz="2800" b="1" i="0" dirty="0">
                <a:solidFill>
                  <a:srgbClr val="0A66C2"/>
                </a:solidFill>
                <a:latin typeface="Calibri"/>
              </a:rPr>
              <a:t> </a:t>
            </a:r>
            <a:r>
              <a:rPr lang="de-CH" sz="2800" b="1" i="0" dirty="0" err="1">
                <a:solidFill>
                  <a:srgbClr val="0A66C2"/>
                </a:solidFill>
                <a:latin typeface="Calibri"/>
              </a:rPr>
              <a:t>whole</a:t>
            </a:r>
            <a:r>
              <a:rPr sz="2800" b="1" i="0" dirty="0">
                <a:solidFill>
                  <a:srgbClr val="0A66C2"/>
                </a:solidFill>
                <a:latin typeface="Calibri"/>
              </a:rPr>
              <a:t> AI sales team behind them — not a blank search bar.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222427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5B6066"/>
                </a:solidFill>
                <a:latin typeface="Calibri"/>
              </a:rPr>
              <a:t>Boaz Gruener  ·  boaz.gruener@gmail.com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A66C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B6066"/>
                </a:solidFill>
                <a:latin typeface="Calibri"/>
              </a:rPr>
              <a:t>Backup material — shown only if it comes up in Q&amp;A.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TWO SEGMENTS, ONE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A66C2"/>
                </a:solidFill>
                <a:latin typeface="Calibri"/>
              </a:rPr>
              <a:t>Works with or without Sales Navigator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66C2"/>
                </a:solidFill>
                <a:latin typeface="Calibri"/>
              </a:rPr>
              <a:t>WITHOUT Sales Navigator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The core use case — works on any LinkedIn account, free or paid.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Topics become the only way to systematically surface buying-intent signals.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No added subscription cost on top of what the seller already pays (if anything).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66C2"/>
                </a:solidFill>
                <a:latin typeface="Calibri"/>
              </a:rPr>
              <a:t>WITH Sales Navigator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The same Topics engine layers on top of Sales Navigator's richer people/company filters.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Sharpens targeting instead of replacing the subscription — makes an existing spend work harder.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Roadmap: direct integration with Sales Navigator's saved searches.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2146</Words>
  <Application>Microsoft Office PowerPoint</Application>
  <PresentationFormat>Widescreen</PresentationFormat>
  <Paragraphs>256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Boaz Gruener</cp:lastModifiedBy>
  <cp:revision>2</cp:revision>
  <dcterms:created xsi:type="dcterms:W3CDTF">2013-01-27T09:14:16Z</dcterms:created>
  <dcterms:modified xsi:type="dcterms:W3CDTF">2026-09-03T09:38:39Z</dcterms:modified>
  <cp:category/>
</cp:coreProperties>
</file>